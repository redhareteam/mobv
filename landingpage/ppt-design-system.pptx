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2133546" y="4800600"/>
            <a:ext cx="16458788" cy="1188720"/>
          </a:xfrm>
          <a:prstGeom prst="ellipse">
            <a:avLst/>
          </a:prstGeom>
          <a:solidFill>
            <a:srgbClr val="5865F2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2133546" y="5074920"/>
            <a:ext cx="16458788" cy="1188720"/>
          </a:xfrm>
          <a:prstGeom prst="ellipse">
            <a:avLst/>
          </a:prstGeom>
          <a:solidFill>
            <a:srgbClr val="2E9BC8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2133546" y="5349240"/>
            <a:ext cx="16458788" cy="1188720"/>
          </a:xfrm>
          <a:prstGeom prst="ellipse">
            <a:avLst/>
          </a:prstGeom>
          <a:solidFill>
            <a:srgbClr val="5AD6C0">
              <a:alpha val="9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mobv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600200"/>
            <a:ext cx="3840479" cy="116793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2960" y="288036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E9BC8"/>
                </a:solidFill>
                <a:latin typeface="Poppins"/>
              </a:rPr>
              <a:t>WHERE EVERYONE MEETS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246120"/>
            <a:ext cx="100584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200" b="1" i="0">
                <a:solidFill>
                  <a:srgbClr val="1C2350"/>
                </a:solidFill>
                <a:latin typeface="Poppins"/>
              </a:rPr>
              <a:t>Design System</a:t>
            </a:r>
          </a:p>
          <a:p>
            <a:pPr algn="l"/>
            <a:r>
              <a:rPr sz="4200" b="1" i="0">
                <a:solidFill>
                  <a:srgbClr val="1C2350"/>
                </a:solidFill>
                <a:latin typeface="Poppins"/>
              </a:rPr>
              <a:t>&amp; PPT Template Guide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617720"/>
            <a:ext cx="8686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3A4170"/>
                </a:solidFill>
                <a:latin typeface="Pretendard"/>
              </a:rPr>
              <a:t>모두가 괜찮은 곳에서 만나요 — 공식 브랜드 핸드오프(로고·컬러) 기준 v3</a:t>
            </a:r>
          </a:p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3A4170"/>
                </a:solidFill>
                <a:latin typeface="Pretendard"/>
              </a:rPr>
              <a:t>앞으로 모든 PPT 제작의 기준 문서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5349240"/>
            <a:ext cx="640080" cy="63500"/>
          </a:xfrm>
          <a:prstGeom prst="rect">
            <a:avLst/>
          </a:prstGeom>
          <a:solidFill>
            <a:srgbClr val="5AD6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603504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9AA0BD"/>
                </a:solidFill>
                <a:latin typeface="Poppins"/>
              </a:rPr>
              <a:t>v3 · Official Handoff ver. ·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537960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9AA0BD"/>
                </a:solidFill>
                <a:latin typeface="Poppins"/>
              </a:rPr>
              <a:t>MOBV Design System · v3 (Official Handoff)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47120" y="653796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9AA0BD"/>
                </a:solidFill>
                <a:latin typeface="Poppins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2E9BC8"/>
                </a:solidFill>
                <a:latin typeface="Poppins"/>
              </a:rPr>
              <a:t>DESIGN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1C2350"/>
                </a:solidFill>
                <a:latin typeface="Pretendard"/>
              </a:rPr>
              <a:t>컬러 팔레트 (Brand Color)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457200" cy="50800"/>
          </a:xfrm>
          <a:prstGeom prst="rect">
            <a:avLst/>
          </a:prstGeom>
          <a:solidFill>
            <a:srgbClr val="5AD6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89888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9AA0BD"/>
                </a:solidFill>
                <a:latin typeface="Poppins"/>
              </a:rPr>
              <a:t>Source: handoff/app_colors.dart · README.md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2286000" cy="1051560"/>
          </a:xfrm>
          <a:prstGeom prst="roundRect">
            <a:avLst>
              <a:gd name="adj" fmla="val 14000"/>
            </a:avLst>
          </a:prstGeom>
          <a:solidFill>
            <a:srgbClr val="5865F2"/>
          </a:solidFill>
          <a:ln w="12700">
            <a:solidFill>
              <a:srgbClr val="E6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944368"/>
            <a:ext cx="22860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C2350"/>
                </a:solidFill>
                <a:latin typeface="Pretendard"/>
              </a:rPr>
              <a:t>Primary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191256"/>
            <a:ext cx="22860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2E9BC8"/>
                </a:solidFill>
                <a:latin typeface="Poppins"/>
              </a:rPr>
              <a:t>Indigo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401567"/>
            <a:ext cx="22860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9AA0BD"/>
                </a:solidFill>
                <a:latin typeface="Poppins"/>
              </a:rPr>
              <a:t>#5865F2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611880"/>
            <a:ext cx="2286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9AA0BD"/>
                </a:solidFill>
                <a:latin typeface="Pretendard"/>
              </a:rPr>
              <a:t>신뢰감 / 전문성 — 로고, CTA, 링크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00400" y="1828800"/>
            <a:ext cx="2286000" cy="1051560"/>
          </a:xfrm>
          <a:prstGeom prst="roundRect">
            <a:avLst>
              <a:gd name="adj" fmla="val 14000"/>
            </a:avLst>
          </a:prstGeom>
          <a:solidFill>
            <a:srgbClr val="5AD6C0"/>
          </a:solidFill>
          <a:ln w="12700">
            <a:solidFill>
              <a:srgbClr val="E6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0" y="2944368"/>
            <a:ext cx="22860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C2350"/>
                </a:solidFill>
                <a:latin typeface="Pretendard"/>
              </a:rPr>
              <a:t>Secondary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3191256"/>
            <a:ext cx="22860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2E9BC8"/>
                </a:solidFill>
                <a:latin typeface="Poppins"/>
              </a:rPr>
              <a:t>Mint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3401567"/>
            <a:ext cx="22860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9AA0BD"/>
                </a:solidFill>
                <a:latin typeface="Poppins"/>
              </a:rPr>
              <a:t>#5AD6C0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0" y="3611880"/>
            <a:ext cx="2286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9AA0BD"/>
                </a:solidFill>
                <a:latin typeface="Pretendard"/>
              </a:rPr>
              <a:t>친근함 / 활기 — 보조 강조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760720" y="1828800"/>
            <a:ext cx="2286000" cy="1051560"/>
          </a:xfrm>
          <a:prstGeom prst="roundRect">
            <a:avLst>
              <a:gd name="adj" fmla="val 14000"/>
            </a:avLst>
          </a:prstGeom>
          <a:solidFill>
            <a:srgbClr val="2E9BC8"/>
          </a:solidFill>
          <a:ln w="12700">
            <a:solidFill>
              <a:srgbClr val="E6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760720" y="2944368"/>
            <a:ext cx="22860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C2350"/>
                </a:solidFill>
                <a:latin typeface="Pretendard"/>
              </a:rPr>
              <a:t>Accent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60720" y="3191256"/>
            <a:ext cx="22860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2E9BC8"/>
                </a:solidFill>
                <a:latin typeface="Poppins"/>
              </a:rPr>
              <a:t>Teal (교집합)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60720" y="3401567"/>
            <a:ext cx="22860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9AA0BD"/>
                </a:solidFill>
                <a:latin typeface="Poppins"/>
              </a:rPr>
              <a:t>#2E9BC8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60720" y="3611880"/>
            <a:ext cx="2286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9AA0BD"/>
                </a:solidFill>
                <a:latin typeface="Pretendard"/>
              </a:rPr>
              <a:t>Indigo·Mint 겹침 영역 — 합의 상징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3703320"/>
            <a:ext cx="1691640" cy="777240"/>
          </a:xfrm>
          <a:prstGeom prst="roundRect">
            <a:avLst>
              <a:gd name="adj" fmla="val 14000"/>
            </a:avLst>
          </a:prstGeom>
          <a:solidFill>
            <a:srgbClr val="1C2350"/>
          </a:solidFill>
          <a:ln w="12700">
            <a:solidFill>
              <a:srgbClr val="E6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4544568"/>
            <a:ext cx="16916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C2350"/>
                </a:solidFill>
                <a:latin typeface="Pretendard"/>
              </a:rPr>
              <a:t>Title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791456"/>
            <a:ext cx="16916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2E9BC8"/>
                </a:solidFill>
                <a:latin typeface="Poppins"/>
              </a:rPr>
              <a:t>Title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5001767"/>
            <a:ext cx="16916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9AA0BD"/>
                </a:solidFill>
                <a:latin typeface="Poppins"/>
              </a:rPr>
              <a:t>#1C2350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212080"/>
            <a:ext cx="1691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9AA0BD"/>
                </a:solidFill>
                <a:latin typeface="Pretendard"/>
              </a:rPr>
              <a:t>워드마크/헤드라인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478024" y="3703320"/>
            <a:ext cx="1691640" cy="777240"/>
          </a:xfrm>
          <a:prstGeom prst="roundRect">
            <a:avLst>
              <a:gd name="adj" fmla="val 14000"/>
            </a:avLst>
          </a:prstGeom>
          <a:solidFill>
            <a:srgbClr val="3A4170"/>
          </a:solidFill>
          <a:ln w="12700">
            <a:solidFill>
              <a:srgbClr val="E6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478024" y="4544568"/>
            <a:ext cx="16916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C2350"/>
                </a:solidFill>
                <a:latin typeface="Pretendard"/>
              </a:rPr>
              <a:t>Body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478024" y="4791456"/>
            <a:ext cx="16916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2E9BC8"/>
                </a:solidFill>
                <a:latin typeface="Poppins"/>
              </a:rPr>
              <a:t>Body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478024" y="5001767"/>
            <a:ext cx="16916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9AA0BD"/>
                </a:solidFill>
                <a:latin typeface="Poppins"/>
              </a:rPr>
              <a:t>#3A4170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478024" y="5212080"/>
            <a:ext cx="1691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9AA0BD"/>
                </a:solidFill>
                <a:latin typeface="Pretendard"/>
              </a:rPr>
              <a:t>본문 텍스트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315968" y="3703320"/>
            <a:ext cx="1691640" cy="777240"/>
          </a:xfrm>
          <a:prstGeom prst="roundRect">
            <a:avLst>
              <a:gd name="adj" fmla="val 14000"/>
            </a:avLst>
          </a:prstGeom>
          <a:solidFill>
            <a:srgbClr val="9AA0BD"/>
          </a:solidFill>
          <a:ln w="12700">
            <a:solidFill>
              <a:srgbClr val="E6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315968" y="4544568"/>
            <a:ext cx="16916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C2350"/>
                </a:solidFill>
                <a:latin typeface="Pretendard"/>
              </a:rPr>
              <a:t>Muted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315968" y="4791456"/>
            <a:ext cx="16916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2E9BC8"/>
                </a:solidFill>
                <a:latin typeface="Poppins"/>
              </a:rPr>
              <a:t>Muted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15968" y="5001767"/>
            <a:ext cx="16916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9AA0BD"/>
                </a:solidFill>
                <a:latin typeface="Poppins"/>
              </a:rPr>
              <a:t>#9AA0BD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15968" y="5212080"/>
            <a:ext cx="1691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9AA0BD"/>
                </a:solidFill>
                <a:latin typeface="Pretendard"/>
              </a:rPr>
              <a:t>보조/캡션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53912" y="3703320"/>
            <a:ext cx="1691640" cy="777240"/>
          </a:xfrm>
          <a:prstGeom prst="roundRect">
            <a:avLst>
              <a:gd name="adj" fmla="val 14000"/>
            </a:avLst>
          </a:prstGeom>
          <a:solidFill>
            <a:srgbClr val="E6E8F0"/>
          </a:solidFill>
          <a:ln w="12700">
            <a:solidFill>
              <a:srgbClr val="E6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53912" y="4544568"/>
            <a:ext cx="16916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C2350"/>
                </a:solidFill>
                <a:latin typeface="Pretendard"/>
              </a:rPr>
              <a:t>Border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153912" y="4791456"/>
            <a:ext cx="16916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2E9BC8"/>
                </a:solidFill>
                <a:latin typeface="Poppins"/>
              </a:rPr>
              <a:t>Border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153912" y="5001767"/>
            <a:ext cx="16916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9AA0BD"/>
                </a:solidFill>
                <a:latin typeface="Poppins"/>
              </a:rPr>
              <a:t>#E6E8F0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153912" y="5212080"/>
            <a:ext cx="1691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9AA0BD"/>
                </a:solidFill>
                <a:latin typeface="Pretendard"/>
              </a:rPr>
              <a:t>구분선/테두리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991856" y="3703320"/>
            <a:ext cx="1691640" cy="777240"/>
          </a:xfrm>
          <a:prstGeom prst="roundRect">
            <a:avLst>
              <a:gd name="adj" fmla="val 14000"/>
            </a:avLst>
          </a:prstGeom>
          <a:solidFill>
            <a:srgbClr val="F4F5F8"/>
          </a:solidFill>
          <a:ln w="12700">
            <a:solidFill>
              <a:srgbClr val="E6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991856" y="4544568"/>
            <a:ext cx="16916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C2350"/>
                </a:solidFill>
                <a:latin typeface="Pretendard"/>
              </a:rPr>
              <a:t>Background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991856" y="4791456"/>
            <a:ext cx="16916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2E9BC8"/>
                </a:solidFill>
                <a:latin typeface="Poppins"/>
              </a:rPr>
              <a:t>BG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991856" y="5001767"/>
            <a:ext cx="16916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9AA0BD"/>
                </a:solidFill>
                <a:latin typeface="Poppins"/>
              </a:rPr>
              <a:t>#F4F5F8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991856" y="5212080"/>
            <a:ext cx="1691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9AA0BD"/>
                </a:solidFill>
                <a:latin typeface="Pretendard"/>
              </a:rPr>
              <a:t>앱 배경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829800" y="3703320"/>
            <a:ext cx="1691640" cy="77724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E6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829800" y="4544568"/>
            <a:ext cx="16916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C2350"/>
                </a:solidFill>
                <a:latin typeface="Pretendard"/>
              </a:rPr>
              <a:t>Surface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829800" y="4791456"/>
            <a:ext cx="16916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2E9BC8"/>
                </a:solidFill>
                <a:latin typeface="Poppins"/>
              </a:rPr>
              <a:t>Surface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829800" y="5001767"/>
            <a:ext cx="16916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9AA0BD"/>
                </a:solidFill>
                <a:latin typeface="Poppins"/>
              </a:rPr>
              <a:t>#FFFFFF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829800" y="5212080"/>
            <a:ext cx="1691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9AA0BD"/>
                </a:solidFill>
                <a:latin typeface="Pretendard"/>
              </a:rPr>
              <a:t>카드/시트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40080" y="5257800"/>
            <a:ext cx="320040" cy="320040"/>
          </a:xfrm>
          <a:prstGeom prst="roundRect">
            <a:avLst>
              <a:gd name="adj" fmla="val 30000"/>
            </a:avLst>
          </a:prstGeom>
          <a:solidFill>
            <a:srgbClr val="2BB6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051560" y="5239512"/>
            <a:ext cx="10058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C2350"/>
                </a:solidFill>
                <a:latin typeface="Pretendard"/>
              </a:rPr>
              <a:t>Success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2103120" y="5257800"/>
            <a:ext cx="320040" cy="320040"/>
          </a:xfrm>
          <a:prstGeom prst="roundRect">
            <a:avLst>
              <a:gd name="adj" fmla="val 30000"/>
            </a:avLst>
          </a:prstGeom>
          <a:solidFill>
            <a:srgbClr val="E548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514600" y="5239512"/>
            <a:ext cx="10058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C2350"/>
                </a:solidFill>
                <a:latin typeface="Pretendard"/>
              </a:rPr>
              <a:t>Error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40080" y="576072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9AA0BD"/>
                </a:solidFill>
                <a:latin typeface="Pretendard"/>
              </a:rPr>
              <a:t>교집합(Teal)은 상태 강조가 아닌 '두 원이 겹치는 지점'에만 의도적으로 사용 — 브랜드 핵심 은유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40080" y="6537960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9AA0BD"/>
                </a:solidFill>
                <a:latin typeface="Poppins"/>
              </a:rPr>
              <a:t>MOBV Design System · v3 (Official Handoff)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1247120" y="653796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9AA0BD"/>
                </a:solidFill>
                <a:latin typeface="Poppin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2E9BC8"/>
                </a:solidFill>
                <a:latin typeface="Poppins"/>
              </a:rPr>
              <a:t>DESIGN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1C2350"/>
                </a:solidFill>
                <a:latin typeface="Pretendard"/>
              </a:rPr>
              <a:t>타이포그래피 (Typography)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457200" cy="50800"/>
          </a:xfrm>
          <a:prstGeom prst="rect">
            <a:avLst/>
          </a:prstGeom>
          <a:solidFill>
            <a:srgbClr val="5AD6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9601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9AA0BD"/>
                </a:solidFill>
                <a:latin typeface="Poppins"/>
              </a:rPr>
              <a:t>영문/워드마크: Poppins (600–700)  ·  한글 본문: Pretendard  — README.md 기준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828799"/>
            <a:ext cx="10881360" cy="19050"/>
          </a:xfrm>
          <a:prstGeom prst="rect">
            <a:avLst/>
          </a:prstGeom>
          <a:solidFill>
            <a:srgbClr val="E6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874519"/>
            <a:ext cx="21031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C2350"/>
                </a:solidFill>
                <a:latin typeface="Poppins"/>
              </a:rPr>
              <a:t>Display / H1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34640" y="1874519"/>
            <a:ext cx="40233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C2350"/>
                </a:solidFill>
                <a:latin typeface="Poppins"/>
              </a:rPr>
              <a:t>Sample 샘플 123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0" y="1874519"/>
            <a:ext cx="15544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9AA0BD"/>
                </a:solidFill>
                <a:latin typeface="Poppins"/>
              </a:rPr>
              <a:t>48px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0" y="1874519"/>
            <a:ext cx="15544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9AA0BD"/>
                </a:solidFill>
                <a:latin typeface="Poppins"/>
              </a:rPr>
              <a:t>Poppins Bold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04120" y="1874519"/>
            <a:ext cx="14173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9AA0BD"/>
                </a:solidFill>
                <a:latin typeface="Pretendard"/>
              </a:rPr>
              <a:t>커버/히어로 타이틀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2350007"/>
            <a:ext cx="10881360" cy="9525"/>
          </a:xfrm>
          <a:prstGeom prst="rect">
            <a:avLst/>
          </a:prstGeom>
          <a:solidFill>
            <a:srgbClr val="E6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377439"/>
            <a:ext cx="21031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C2350"/>
                </a:solidFill>
                <a:latin typeface="Poppins"/>
              </a:rPr>
              <a:t>Section Title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34640" y="2377439"/>
            <a:ext cx="40233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C2350"/>
                </a:solidFill>
                <a:latin typeface="Poppins"/>
              </a:rPr>
              <a:t>Sample 샘플 123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0" y="2377439"/>
            <a:ext cx="15544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9AA0BD"/>
                </a:solidFill>
                <a:latin typeface="Poppins"/>
              </a:rPr>
              <a:t>36px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5360" y="2377439"/>
            <a:ext cx="15544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9AA0BD"/>
                </a:solidFill>
                <a:latin typeface="Poppins"/>
              </a:rPr>
              <a:t>Poppins SemiBold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104120" y="2377439"/>
            <a:ext cx="14173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9AA0BD"/>
                </a:solidFill>
                <a:latin typeface="Pretendard"/>
              </a:rPr>
              <a:t>섹션 타이틀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2852927"/>
            <a:ext cx="10881360" cy="9525"/>
          </a:xfrm>
          <a:prstGeom prst="rect">
            <a:avLst/>
          </a:prstGeom>
          <a:solidFill>
            <a:srgbClr val="E6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2880359"/>
            <a:ext cx="21031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C2350"/>
                </a:solidFill>
                <a:latin typeface="Poppins"/>
              </a:rPr>
              <a:t>Body Large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34640" y="2880359"/>
            <a:ext cx="40233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200" b="0" i="0">
                <a:solidFill>
                  <a:srgbClr val="3A4170"/>
                </a:solidFill>
                <a:latin typeface="Pretendard"/>
              </a:rPr>
              <a:t>Sample 샘플 123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0" y="2880359"/>
            <a:ext cx="15544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9AA0BD"/>
                </a:solidFill>
                <a:latin typeface="Poppins"/>
              </a:rPr>
              <a:t>22px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95360" y="2880359"/>
            <a:ext cx="15544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9AA0BD"/>
                </a:solidFill>
                <a:latin typeface="Poppins"/>
              </a:rPr>
              <a:t>Pretendard Regular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104120" y="2880359"/>
            <a:ext cx="14173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9AA0BD"/>
                </a:solidFill>
                <a:latin typeface="Pretendard"/>
              </a:rPr>
              <a:t>리드 문장 / 서브카피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3355847"/>
            <a:ext cx="10881360" cy="9525"/>
          </a:xfrm>
          <a:prstGeom prst="rect">
            <a:avLst/>
          </a:prstGeom>
          <a:solidFill>
            <a:srgbClr val="E6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3383279"/>
            <a:ext cx="21031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C2350"/>
                </a:solidFill>
                <a:latin typeface="Poppins"/>
              </a:rPr>
              <a:t>Body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834640" y="3383279"/>
            <a:ext cx="40233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3A4170"/>
                </a:solidFill>
                <a:latin typeface="Pretendard"/>
              </a:rPr>
              <a:t>Sample 샘플 123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32320" y="3383279"/>
            <a:ext cx="15544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9AA0BD"/>
                </a:solidFill>
                <a:latin typeface="Poppins"/>
              </a:rPr>
              <a:t>16px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95360" y="3383279"/>
            <a:ext cx="15544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9AA0BD"/>
                </a:solidFill>
                <a:latin typeface="Poppins"/>
              </a:rPr>
              <a:t>Pretendard Regular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104120" y="3383279"/>
            <a:ext cx="14173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9AA0BD"/>
                </a:solidFill>
                <a:latin typeface="Pretendard"/>
              </a:rPr>
              <a:t>본문 텍스트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" y="3858767"/>
            <a:ext cx="10881360" cy="9525"/>
          </a:xfrm>
          <a:prstGeom prst="rect">
            <a:avLst/>
          </a:prstGeom>
          <a:solidFill>
            <a:srgbClr val="E6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" y="3886199"/>
            <a:ext cx="21031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C2350"/>
                </a:solidFill>
                <a:latin typeface="Poppins"/>
              </a:rPr>
              <a:t>Nav / Label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834640" y="3886199"/>
            <a:ext cx="40233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5865F2"/>
                </a:solidFill>
                <a:latin typeface="Pretendard"/>
              </a:rPr>
              <a:t>Sample 샘플 123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32320" y="3886199"/>
            <a:ext cx="15544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9AA0BD"/>
                </a:solidFill>
                <a:latin typeface="Poppins"/>
              </a:rPr>
              <a:t>16px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95360" y="3886199"/>
            <a:ext cx="15544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9AA0BD"/>
                </a:solidFill>
                <a:latin typeface="Poppins"/>
              </a:rPr>
              <a:t>Pretendard SemiBold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104120" y="3886199"/>
            <a:ext cx="14173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9AA0BD"/>
                </a:solidFill>
                <a:latin typeface="Pretendard"/>
              </a:rPr>
              <a:t>내비게이션, 활성 탭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0080" y="4361687"/>
            <a:ext cx="10881360" cy="9525"/>
          </a:xfrm>
          <a:prstGeom prst="rect">
            <a:avLst/>
          </a:prstGeom>
          <a:solidFill>
            <a:srgbClr val="E6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0080" y="4389119"/>
            <a:ext cx="21031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C2350"/>
                </a:solidFill>
                <a:latin typeface="Poppins"/>
              </a:rPr>
              <a:t>Caption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834640" y="4389119"/>
            <a:ext cx="40233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9AA0BD"/>
                </a:solidFill>
                <a:latin typeface="Pretendard"/>
              </a:rPr>
              <a:t>Sample 샘플 123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132320" y="4389119"/>
            <a:ext cx="15544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9AA0BD"/>
                </a:solidFill>
                <a:latin typeface="Poppins"/>
              </a:rPr>
              <a:t>12px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95360" y="4389119"/>
            <a:ext cx="15544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9AA0BD"/>
                </a:solidFill>
                <a:latin typeface="Poppins"/>
              </a:rPr>
              <a:t>Pretendard Regular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104120" y="4389119"/>
            <a:ext cx="14173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9AA0BD"/>
                </a:solidFill>
                <a:latin typeface="Pretendard"/>
              </a:rPr>
              <a:t>보조 설명, 캡션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40080" y="4864607"/>
            <a:ext cx="10881360" cy="9525"/>
          </a:xfrm>
          <a:prstGeom prst="rect">
            <a:avLst/>
          </a:prstGeom>
          <a:solidFill>
            <a:srgbClr val="E6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0080" y="4892039"/>
            <a:ext cx="21031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C2350"/>
                </a:solidFill>
                <a:latin typeface="Poppins"/>
              </a:rPr>
              <a:t>Button Label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2834640" y="4946903"/>
            <a:ext cx="1463040" cy="393192"/>
          </a:xfrm>
          <a:prstGeom prst="roundRect">
            <a:avLst>
              <a:gd name="adj" fmla="val 50000"/>
            </a:avLst>
          </a:prstGeom>
          <a:solidFill>
            <a:srgbClr val="586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834640" y="4946903"/>
            <a:ext cx="1463040" cy="393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Poppins"/>
              </a:rPr>
              <a:t>SAMPLE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132320" y="4892039"/>
            <a:ext cx="15544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9AA0BD"/>
                </a:solidFill>
                <a:latin typeface="Poppins"/>
              </a:rPr>
              <a:t>14px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595360" y="4892039"/>
            <a:ext cx="15544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9AA0BD"/>
                </a:solidFill>
                <a:latin typeface="Poppins"/>
              </a:rPr>
              <a:t>Poppins SemiBold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104120" y="4892039"/>
            <a:ext cx="14173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9AA0BD"/>
                </a:solidFill>
                <a:latin typeface="Pretendard"/>
              </a:rPr>
              <a:t>버튼 라벨 (UPPERCASE)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40080" y="5367527"/>
            <a:ext cx="10881360" cy="9525"/>
          </a:xfrm>
          <a:prstGeom prst="rect">
            <a:avLst/>
          </a:prstGeom>
          <a:solidFill>
            <a:srgbClr val="E6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40080" y="5394959"/>
            <a:ext cx="21031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C2350"/>
                </a:solidFill>
                <a:latin typeface="Poppins"/>
              </a:rPr>
              <a:t>Data / Stat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834640" y="5394959"/>
            <a:ext cx="40233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5865F2"/>
                </a:solidFill>
                <a:latin typeface="Poppins"/>
              </a:rPr>
              <a:t>Sample 샘플 123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132320" y="5394959"/>
            <a:ext cx="15544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9AA0BD"/>
                </a:solidFill>
                <a:latin typeface="Poppins"/>
              </a:rPr>
              <a:t>32px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595360" y="5394959"/>
            <a:ext cx="15544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9AA0BD"/>
                </a:solidFill>
                <a:latin typeface="Poppins"/>
              </a:rPr>
              <a:t>Poppins Bold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104120" y="5394959"/>
            <a:ext cx="14173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9AA0BD"/>
                </a:solidFill>
                <a:latin typeface="Pretendard"/>
              </a:rPr>
              <a:t>통계 수치 강조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40080" y="5870447"/>
            <a:ext cx="10881360" cy="9525"/>
          </a:xfrm>
          <a:prstGeom prst="rect">
            <a:avLst/>
          </a:prstGeom>
          <a:solidFill>
            <a:srgbClr val="E6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40080" y="6537960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9AA0BD"/>
                </a:solidFill>
                <a:latin typeface="Poppins"/>
              </a:rPr>
              <a:t>MOBV Design System · v3 (Official Handoff)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1247120" y="653796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9AA0BD"/>
                </a:solidFill>
                <a:latin typeface="Poppin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2E9BC8"/>
                </a:solidFill>
                <a:latin typeface="Poppins"/>
              </a:rPr>
              <a:t>DESIGN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1C2350"/>
                </a:solidFill>
                <a:latin typeface="Pretendard"/>
              </a:rPr>
              <a:t>로고 &amp; 사용 규칙 (Logo Usage)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457200" cy="50800"/>
          </a:xfrm>
          <a:prstGeom prst="rect">
            <a:avLst/>
          </a:prstGeom>
          <a:solidFill>
            <a:srgbClr val="5AD6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737360"/>
            <a:ext cx="5120640" cy="1920240"/>
          </a:xfrm>
          <a:prstGeom prst="roundRect">
            <a:avLst>
              <a:gd name="adj" fmla="val 6000"/>
            </a:avLst>
          </a:prstGeom>
          <a:solidFill>
            <a:srgbClr val="F4F5F8"/>
          </a:solidFill>
          <a:ln w="12700">
            <a:solidFill>
              <a:srgbClr val="E6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mobv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7348" y="2331720"/>
            <a:ext cx="2706103" cy="822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3749039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C2350"/>
                </a:solidFill>
                <a:latin typeface="Poppins"/>
              </a:rPr>
              <a:t>워드마크 (Wordmark) · mobv-wordmark.png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041648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9AA0BD"/>
                </a:solidFill>
                <a:latin typeface="Pretendard"/>
              </a:rPr>
              <a:t>앱바 · 스플래시 · 헤더 · 최소 폭 96px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35040" y="1737360"/>
            <a:ext cx="2377440" cy="1920240"/>
          </a:xfrm>
          <a:prstGeom prst="roundRect">
            <a:avLst>
              <a:gd name="adj" fmla="val 6000"/>
            </a:avLst>
          </a:prstGeom>
          <a:solidFill>
            <a:srgbClr val="F4F5F8"/>
          </a:solidFill>
          <a:ln w="12700">
            <a:solidFill>
              <a:srgbClr val="E6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mobv-symbo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0840" y="1965960"/>
            <a:ext cx="1005840" cy="678357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035040" y="3749039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C2350"/>
                </a:solidFill>
                <a:latin typeface="Poppins"/>
              </a:rPr>
              <a:t>심볼 (Symbol)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0" y="4041648"/>
            <a:ext cx="23774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9AA0BD"/>
                </a:solidFill>
                <a:latin typeface="Pretendard"/>
              </a:rPr>
              <a:t>두 원의 색·겹침 비율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9AA0BD"/>
                </a:solidFill>
                <a:latin typeface="Pretendard"/>
              </a:rPr>
              <a:t>변경 금지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0" y="1737360"/>
            <a:ext cx="2834640" cy="1920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6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mobv-app-ic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0" y="1965960"/>
            <a:ext cx="1463040" cy="146304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686800" y="3749039"/>
            <a:ext cx="2834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C2350"/>
                </a:solidFill>
                <a:latin typeface="Poppins"/>
              </a:rPr>
              <a:t>앱 아이콘 (1024×1024)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57200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C2350"/>
                </a:solidFill>
                <a:latin typeface="Pretendard"/>
              </a:rPr>
              <a:t>사용 규칙</a:t>
            </a:r>
          </a:p>
        </p:txBody>
      </p:sp>
      <p:sp>
        <p:nvSpPr>
          <p:cNvPr id="17" name="Oval 16"/>
          <p:cNvSpPr/>
          <p:nvPr/>
        </p:nvSpPr>
        <p:spPr>
          <a:xfrm>
            <a:off x="640080" y="5020056"/>
            <a:ext cx="91440" cy="91440"/>
          </a:xfrm>
          <a:prstGeom prst="ellipse">
            <a:avLst/>
          </a:prstGeom>
          <a:solidFill>
            <a:srgbClr val="5AD6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495604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3A4170"/>
                </a:solidFill>
                <a:latin typeface="Pretendard"/>
              </a:rPr>
              <a:t>심볼 보호 여백: 원 지름의 50% 이상 확보</a:t>
            </a:r>
          </a:p>
        </p:txBody>
      </p:sp>
      <p:sp>
        <p:nvSpPr>
          <p:cNvPr id="19" name="Oval 18"/>
          <p:cNvSpPr/>
          <p:nvPr/>
        </p:nvSpPr>
        <p:spPr>
          <a:xfrm>
            <a:off x="640080" y="5385816"/>
            <a:ext cx="91440" cy="91440"/>
          </a:xfrm>
          <a:prstGeom prst="ellipse">
            <a:avLst/>
          </a:prstGeom>
          <a:solidFill>
            <a:srgbClr val="5AD6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532180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3A4170"/>
                </a:solidFill>
                <a:latin typeface="Pretendard"/>
              </a:rPr>
              <a:t>워드마크 최소 폭: 96px 이하로 축소 금지</a:t>
            </a:r>
          </a:p>
        </p:txBody>
      </p:sp>
      <p:sp>
        <p:nvSpPr>
          <p:cNvPr id="21" name="Oval 20"/>
          <p:cNvSpPr/>
          <p:nvPr/>
        </p:nvSpPr>
        <p:spPr>
          <a:xfrm>
            <a:off x="640080" y="5751576"/>
            <a:ext cx="91440" cy="91440"/>
          </a:xfrm>
          <a:prstGeom prst="ellipse">
            <a:avLst/>
          </a:prstGeom>
          <a:solidFill>
            <a:srgbClr val="5AD6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568756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3A4170"/>
                </a:solidFill>
                <a:latin typeface="Pretendard"/>
              </a:rPr>
              <a:t>두 원의 색(Indigo/Mint)·겹침 비율은 브랜드 핵심 — 임의 변경 금지</a:t>
            </a:r>
          </a:p>
        </p:txBody>
      </p:sp>
      <p:sp>
        <p:nvSpPr>
          <p:cNvPr id="23" name="Oval 22"/>
          <p:cNvSpPr/>
          <p:nvPr/>
        </p:nvSpPr>
        <p:spPr>
          <a:xfrm>
            <a:off x="640080" y="6117336"/>
            <a:ext cx="91440" cy="91440"/>
          </a:xfrm>
          <a:prstGeom prst="ellipse">
            <a:avLst/>
          </a:prstGeom>
          <a:solidFill>
            <a:srgbClr val="5AD6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8680" y="605332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3A4170"/>
                </a:solidFill>
                <a:latin typeface="Pretendard"/>
              </a:rPr>
              <a:t>저채도 배경 위에서만 사용, 복잡한 이미지 위 배치 지양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6537960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9AA0BD"/>
                </a:solidFill>
                <a:latin typeface="Poppins"/>
              </a:rPr>
              <a:t>MOBV Design System · v3 (Official Handoff)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47120" y="653796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9AA0BD"/>
                </a:solidFill>
                <a:latin typeface="Poppin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2E9BC8"/>
                </a:solidFill>
                <a:latin typeface="Poppins"/>
              </a:rPr>
              <a:t>DESIGN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1C2350"/>
                </a:solidFill>
                <a:latin typeface="Pretendard"/>
              </a:rPr>
              <a:t>레이아웃 규칙 (Layout Rules)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457200" cy="50800"/>
          </a:xfrm>
          <a:prstGeom prst="rect">
            <a:avLst/>
          </a:prstGeom>
          <a:solidFill>
            <a:srgbClr val="5AD6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00" cy="4297680"/>
          </a:xfrm>
          <a:prstGeom prst="rect">
            <a:avLst/>
          </a:prstGeom>
          <a:solidFill>
            <a:srgbClr val="F4F5F8"/>
          </a:solidFill>
          <a:ln w="12700">
            <a:solidFill>
              <a:srgbClr val="E6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97280" y="2011680"/>
            <a:ext cx="4572000" cy="3749040"/>
          </a:xfrm>
          <a:prstGeom prst="rect">
            <a:avLst/>
          </a:prstGeom>
          <a:solidFill>
            <a:srgbClr val="FFFFFF"/>
          </a:solidFill>
          <a:ln w="15875">
            <a:solidFill>
              <a:srgbClr val="5865F2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05740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5865F2"/>
                </a:solidFill>
                <a:latin typeface="Poppins"/>
              </a:rPr>
              <a:t>콘텐츠 유효폭 (Safe Area)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10819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9AA0BD"/>
                </a:solidFill>
                <a:latin typeface="Pretendard"/>
              </a:rPr>
              <a:t>16:9 슬라이드 · 좌우 여백 균일 유지 · 콘텐츠는 안전영역 내에만 배치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92240" y="1792224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5AD6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66560" y="1709928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C2350"/>
                </a:solidFill>
                <a:latin typeface="Pretendard"/>
              </a:rPr>
              <a:t>여백 비율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0" y="1993392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3A4170"/>
                </a:solidFill>
                <a:latin typeface="Pretendard"/>
              </a:rPr>
              <a:t>본문 좌측 시작 기준 약 6~8% 고정 (원본 랜딩 156px/1280px 비율 대응)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92240" y="2505456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5AD6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0" y="2423160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C2350"/>
                </a:solidFill>
                <a:latin typeface="Pretendard"/>
              </a:rPr>
              <a:t>그리드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0" y="2706624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3A4170"/>
                </a:solidFill>
                <a:latin typeface="Pretendard"/>
              </a:rPr>
              <a:t>비대칭 2컬럼(텍스트+이미지/일러스트) 반복, 좌/우 교차 배치로 리듬 부여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92240" y="3218688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5AD6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66560" y="3136392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C2350"/>
                </a:solidFill>
                <a:latin typeface="Pretendard"/>
              </a:rPr>
              <a:t>버튼 형태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6560" y="3419856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3A4170"/>
                </a:solidFill>
                <a:latin typeface="Pretendard"/>
              </a:rPr>
              <a:t>필(pill) 형태, radius 최대치 — Primary(Indigo 배경) / Secondary(Indigo 아웃라인)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92240" y="3931920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5AD6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0" y="3849624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C2350"/>
                </a:solidFill>
                <a:latin typeface="Pretendard"/>
              </a:rPr>
              <a:t>데이터 블록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60" y="4133088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3A4170"/>
                </a:solidFill>
                <a:latin typeface="Pretendard"/>
              </a:rPr>
              <a:t>3분할 통계 + 1px 세로 구분선(Border 컬러), 숫자는 Indigo·Poppins Bold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92240" y="4645152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5AD6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66560" y="4562856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C2350"/>
                </a:solidFill>
                <a:latin typeface="Pretendard"/>
              </a:rPr>
              <a:t>장식 요소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66560" y="4846320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3A4170"/>
                </a:solidFill>
                <a:latin typeface="Pretendard"/>
              </a:rPr>
              <a:t>웨이브/블롭 + 점·원 산개(저채도) — 커버/마무리 한정 사용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92240" y="5358384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5AD6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0" y="5276088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C2350"/>
                </a:solidFill>
                <a:latin typeface="Pretendard"/>
              </a:rPr>
              <a:t>교집합 모티브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66560" y="5559552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3A4170"/>
                </a:solidFill>
                <a:latin typeface="Pretendard"/>
              </a:rPr>
              <a:t>Teal 그라데이션은 '두 요소가 겹치는 지점'에만 의도적으로 사용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6537960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9AA0BD"/>
                </a:solidFill>
                <a:latin typeface="Poppins"/>
              </a:rPr>
              <a:t>MOBV Design System · v3 (Official Handoff)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247120" y="653796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9AA0BD"/>
                </a:solidFill>
                <a:latin typeface="Poppin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C2350"/>
              </a:gs>
              <a:gs pos="100000">
                <a:srgbClr val="5865F2"/>
              </a:gs>
            </a:gsLst>
            <a:lin scaled="0" ang="180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6060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5AD6C0"/>
                </a:solidFill>
                <a:latin typeface="Poppins"/>
              </a:rPr>
              <a:t>SLIDE TEMPLATES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97180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Pretendard"/>
              </a:rPr>
              <a:t>슬라이드 유형별 템플릿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79476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D8DCF7"/>
                </a:solidFill>
                <a:latin typeface="Pretendard"/>
              </a:rPr>
              <a:t>커버 · 목차 · 본문 텍스트형 · 본문 이미지형 · 데이터/차트 · 인용 · 마무리</a:t>
            </a:r>
          </a:p>
        </p:txBody>
      </p:sp>
      <p:pic>
        <p:nvPicPr>
          <p:cNvPr id="6" name="Picture 5" descr="mobv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4572000"/>
            <a:ext cx="2377440" cy="72300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6537960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9AA0BD"/>
                </a:solidFill>
                <a:latin typeface="Poppins"/>
              </a:rPr>
              <a:t>MOBV Design System · v3 (Official Handoff)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53796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9AA0BD"/>
                </a:solidFill>
                <a:latin typeface="Poppin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2E9BC8"/>
                </a:solidFill>
                <a:latin typeface="Poppins"/>
              </a:rPr>
              <a:t>TEMPLATE · COVER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1C2350"/>
                </a:solidFill>
                <a:latin typeface="Pretendard"/>
              </a:rPr>
              <a:t>커버 슬라이드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457200" cy="50800"/>
          </a:xfrm>
          <a:prstGeom prst="rect">
            <a:avLst/>
          </a:prstGeom>
          <a:solidFill>
            <a:srgbClr val="5AD6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691640"/>
            <a:ext cx="10881360" cy="4343400"/>
          </a:xfrm>
          <a:prstGeom prst="rect">
            <a:avLst/>
          </a:prstGeom>
          <a:solidFill>
            <a:srgbClr val="F4F5F8"/>
          </a:solidFill>
          <a:ln w="12700">
            <a:solidFill>
              <a:srgbClr val="E6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-609584" y="4937760"/>
            <a:ext cx="13410864" cy="1188720"/>
          </a:xfrm>
          <a:prstGeom prst="ellipse">
            <a:avLst/>
          </a:prstGeom>
          <a:solidFill>
            <a:srgbClr val="5865F2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-609584" y="5212080"/>
            <a:ext cx="13410864" cy="1188720"/>
          </a:xfrm>
          <a:prstGeom prst="ellipse">
            <a:avLst/>
          </a:prstGeom>
          <a:solidFill>
            <a:srgbClr val="5AD6C0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mobv-symbo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1965960"/>
            <a:ext cx="548640" cy="370013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1005840" y="2651760"/>
            <a:ext cx="8686800" cy="1188720"/>
          </a:xfrm>
          <a:prstGeom prst="rect">
            <a:avLst/>
          </a:prstGeom>
          <a:solidFill>
            <a:srgbClr val="FFFFFF"/>
          </a:solidFill>
          <a:ln w="15875">
            <a:solidFill>
              <a:srgbClr val="E6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9AA0BD"/>
                </a:solidFill>
                <a:latin typeface="Pretendard"/>
              </a:rPr>
              <a:t>프레젠테이션 제목 (H1, 48px Poppins Bold)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05840" y="3977639"/>
            <a:ext cx="6858000" cy="548640"/>
          </a:xfrm>
          <a:prstGeom prst="rect">
            <a:avLst/>
          </a:prstGeom>
          <a:solidFill>
            <a:srgbClr val="FFFFFF"/>
          </a:solidFill>
          <a:ln w="15875">
            <a:solidFill>
              <a:srgbClr val="E6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9AA0BD"/>
                </a:solidFill>
                <a:latin typeface="Pretendard"/>
              </a:rPr>
              <a:t>부제 / 한 줄 설명 (22px Pretendard)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05840" y="4709160"/>
            <a:ext cx="1554480" cy="457200"/>
          </a:xfrm>
          <a:prstGeom prst="roundRect">
            <a:avLst>
              <a:gd name="adj" fmla="val 50000"/>
            </a:avLst>
          </a:prstGeom>
          <a:solidFill>
            <a:srgbClr val="586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Poppins"/>
              </a:rPr>
              <a:t>발표자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54864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9AA0BD"/>
                </a:solidFill>
                <a:latin typeface="Pretendard"/>
              </a:rPr>
              <a:t>발표일 · 발표자 소속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537960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9AA0BD"/>
                </a:solidFill>
                <a:latin typeface="Poppins"/>
              </a:rPr>
              <a:t>MOBV Design System · v3 (Official Handoff)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47120" y="653796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9AA0BD"/>
                </a:solidFill>
                <a:latin typeface="Poppin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2E9BC8"/>
                </a:solidFill>
                <a:latin typeface="Poppins"/>
              </a:rPr>
              <a:t>TEMPLATE · TOC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1C2350"/>
                </a:solidFill>
                <a:latin typeface="Pretendard"/>
              </a:rPr>
              <a:t>목차 슬라이드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457200" cy="50800"/>
          </a:xfrm>
          <a:prstGeom prst="rect">
            <a:avLst/>
          </a:prstGeom>
          <a:solidFill>
            <a:srgbClr val="5AD6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83080"/>
            <a:ext cx="54864" cy="502920"/>
          </a:xfrm>
          <a:prstGeom prst="rect">
            <a:avLst/>
          </a:prstGeom>
          <a:solidFill>
            <a:srgbClr val="5AD6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82296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1C2350"/>
                </a:solidFill>
                <a:latin typeface="Pretendard"/>
              </a:rPr>
              <a:t>01  문제 정의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404872"/>
            <a:ext cx="10607040" cy="12700"/>
          </a:xfrm>
          <a:prstGeom prst="rect">
            <a:avLst/>
          </a:prstGeom>
          <a:solidFill>
            <a:srgbClr val="E6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2606040"/>
            <a:ext cx="54864" cy="502920"/>
          </a:xfrm>
          <a:prstGeom prst="rect">
            <a:avLst/>
          </a:prstGeom>
          <a:solidFill>
            <a:srgbClr val="5AD6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606040"/>
            <a:ext cx="82296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1C2350"/>
                </a:solidFill>
                <a:latin typeface="Pretendard"/>
              </a:rPr>
              <a:t>02  시장 분석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227832"/>
            <a:ext cx="10607040" cy="12700"/>
          </a:xfrm>
          <a:prstGeom prst="rect">
            <a:avLst/>
          </a:prstGeom>
          <a:solidFill>
            <a:srgbClr val="E6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3429000"/>
            <a:ext cx="54864" cy="502920"/>
          </a:xfrm>
          <a:prstGeom prst="rect">
            <a:avLst/>
          </a:prstGeom>
          <a:solidFill>
            <a:srgbClr val="5AD6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429000"/>
            <a:ext cx="82296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1C2350"/>
                </a:solidFill>
                <a:latin typeface="Pretendard"/>
              </a:rPr>
              <a:t>03  솔루션 (Mobv)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4050792"/>
            <a:ext cx="10607040" cy="12700"/>
          </a:xfrm>
          <a:prstGeom prst="rect">
            <a:avLst/>
          </a:prstGeom>
          <a:solidFill>
            <a:srgbClr val="E6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4251960"/>
            <a:ext cx="54864" cy="502920"/>
          </a:xfrm>
          <a:prstGeom prst="rect">
            <a:avLst/>
          </a:prstGeom>
          <a:solidFill>
            <a:srgbClr val="5AD6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251960"/>
            <a:ext cx="82296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1C2350"/>
                </a:solidFill>
                <a:latin typeface="Pretendard"/>
              </a:rPr>
              <a:t>04  데이터 · 검증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4873752"/>
            <a:ext cx="10607040" cy="12700"/>
          </a:xfrm>
          <a:prstGeom prst="rect">
            <a:avLst/>
          </a:prstGeom>
          <a:solidFill>
            <a:srgbClr val="E6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" y="5074920"/>
            <a:ext cx="54864" cy="502920"/>
          </a:xfrm>
          <a:prstGeom prst="rect">
            <a:avLst/>
          </a:prstGeom>
          <a:solidFill>
            <a:srgbClr val="5AD6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074920"/>
            <a:ext cx="82296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1C2350"/>
                </a:solidFill>
                <a:latin typeface="Pretendard"/>
              </a:rPr>
              <a:t>05  로드맵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5696712"/>
            <a:ext cx="10607040" cy="12700"/>
          </a:xfrm>
          <a:prstGeom prst="rect">
            <a:avLst/>
          </a:prstGeom>
          <a:solidFill>
            <a:srgbClr val="E6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6537960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9AA0BD"/>
                </a:solidFill>
                <a:latin typeface="Poppins"/>
              </a:rPr>
              <a:t>MOBV Design System · v3 (Official Handoff)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47120" y="653796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9AA0BD"/>
                </a:solidFill>
                <a:latin typeface="Poppins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2E9BC8"/>
                </a:solidFill>
                <a:latin typeface="Poppins"/>
              </a:rPr>
              <a:t>TEMPLATE · BODY / 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1C2350"/>
                </a:solidFill>
                <a:latin typeface="Pretendard"/>
              </a:rPr>
              <a:t>본문 텍스트형 슬라이드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457200" cy="50800"/>
          </a:xfrm>
          <a:prstGeom prst="rect">
            <a:avLst/>
          </a:prstGeom>
          <a:solidFill>
            <a:srgbClr val="5AD6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691640"/>
            <a:ext cx="10881360" cy="548640"/>
          </a:xfrm>
          <a:prstGeom prst="rect">
            <a:avLst/>
          </a:prstGeom>
          <a:solidFill>
            <a:srgbClr val="F4F5F8"/>
          </a:solidFill>
          <a:ln w="15875">
            <a:solidFill>
              <a:srgbClr val="E6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9AA0BD"/>
                </a:solidFill>
                <a:latin typeface="Pretendard"/>
              </a:rPr>
              <a:t>섹션 소제목 (H2, 36px)</a:t>
            </a:r>
          </a:p>
        </p:txBody>
      </p:sp>
      <p:sp>
        <p:nvSpPr>
          <p:cNvPr id="6" name="Oval 5"/>
          <p:cNvSpPr/>
          <p:nvPr/>
        </p:nvSpPr>
        <p:spPr>
          <a:xfrm>
            <a:off x="640080" y="2468880"/>
            <a:ext cx="365760" cy="365760"/>
          </a:xfrm>
          <a:prstGeom prst="ellipse">
            <a:avLst/>
          </a:prstGeom>
          <a:solidFill>
            <a:srgbClr val="586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468880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Pretendard"/>
              </a:rPr>
              <a:t>-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971800"/>
            <a:ext cx="3108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C2350"/>
                </a:solidFill>
                <a:latin typeface="Pretendard"/>
              </a:rPr>
              <a:t>핵심 요점 1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3474720"/>
            <a:ext cx="3108960" cy="2377440"/>
          </a:xfrm>
          <a:prstGeom prst="rect">
            <a:avLst/>
          </a:prstGeom>
          <a:solidFill>
            <a:srgbClr val="F4F5F8"/>
          </a:solidFill>
          <a:ln w="15875">
            <a:solidFill>
              <a:srgbClr val="E6E8F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9AA0BD"/>
                </a:solidFill>
                <a:latin typeface="Pretendard"/>
              </a:rPr>
              <a:t>본문 텍스트 (16px Pretendard)
자유 문장 영역</a:t>
            </a:r>
          </a:p>
        </p:txBody>
      </p:sp>
      <p:sp>
        <p:nvSpPr>
          <p:cNvPr id="10" name="Oval 9"/>
          <p:cNvSpPr/>
          <p:nvPr/>
        </p:nvSpPr>
        <p:spPr>
          <a:xfrm>
            <a:off x="4114800" y="2468880"/>
            <a:ext cx="365760" cy="365760"/>
          </a:xfrm>
          <a:prstGeom prst="ellipse">
            <a:avLst/>
          </a:prstGeom>
          <a:solidFill>
            <a:srgbClr val="586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0" y="2468880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Pretendard"/>
              </a:rPr>
              <a:t>-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2971800"/>
            <a:ext cx="3108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C2350"/>
                </a:solidFill>
                <a:latin typeface="Pretendard"/>
              </a:rPr>
              <a:t>핵심 요점 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0" y="3474720"/>
            <a:ext cx="3108960" cy="2377440"/>
          </a:xfrm>
          <a:prstGeom prst="rect">
            <a:avLst/>
          </a:prstGeom>
          <a:solidFill>
            <a:srgbClr val="F4F5F8"/>
          </a:solidFill>
          <a:ln w="15875">
            <a:solidFill>
              <a:srgbClr val="E6E8F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9AA0BD"/>
                </a:solidFill>
                <a:latin typeface="Pretendard"/>
              </a:rPr>
              <a:t>본문 텍스트 (16px Pretendard)
자유 문장 영역</a:t>
            </a:r>
          </a:p>
        </p:txBody>
      </p:sp>
      <p:sp>
        <p:nvSpPr>
          <p:cNvPr id="14" name="Oval 13"/>
          <p:cNvSpPr/>
          <p:nvPr/>
        </p:nvSpPr>
        <p:spPr>
          <a:xfrm>
            <a:off x="7589520" y="2468880"/>
            <a:ext cx="365760" cy="365760"/>
          </a:xfrm>
          <a:prstGeom prst="ellipse">
            <a:avLst/>
          </a:prstGeom>
          <a:solidFill>
            <a:srgbClr val="586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89520" y="2468880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Pretendard"/>
              </a:rPr>
              <a:t>-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89520" y="2971800"/>
            <a:ext cx="3108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C2350"/>
                </a:solidFill>
                <a:latin typeface="Pretendard"/>
              </a:rPr>
              <a:t>핵심 요점 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589520" y="3474720"/>
            <a:ext cx="3108960" cy="2377440"/>
          </a:xfrm>
          <a:prstGeom prst="rect">
            <a:avLst/>
          </a:prstGeom>
          <a:solidFill>
            <a:srgbClr val="F4F5F8"/>
          </a:solidFill>
          <a:ln w="15875">
            <a:solidFill>
              <a:srgbClr val="E6E8F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9AA0BD"/>
                </a:solidFill>
                <a:latin typeface="Pretendard"/>
              </a:rPr>
              <a:t>본문 텍스트 (16px Pretendard)
자유 문장 영역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537960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9AA0BD"/>
                </a:solidFill>
                <a:latin typeface="Poppins"/>
              </a:rPr>
              <a:t>MOBV Design System · v3 (Official Handoff)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47120" y="653796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9AA0BD"/>
                </a:solidFill>
                <a:latin typeface="Poppins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2E9BC8"/>
                </a:solidFill>
                <a:latin typeface="Poppins"/>
              </a:rPr>
              <a:t>TEMPLATE · BODY / IMAGE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1C2350"/>
                </a:solidFill>
                <a:latin typeface="Pretendard"/>
              </a:rPr>
              <a:t>본문 이미지형 슬라이드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457200" cy="50800"/>
          </a:xfrm>
          <a:prstGeom prst="rect">
            <a:avLst/>
          </a:prstGeom>
          <a:solidFill>
            <a:srgbClr val="5AD6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691640"/>
            <a:ext cx="5120640" cy="548640"/>
          </a:xfrm>
          <a:prstGeom prst="rect">
            <a:avLst/>
          </a:prstGeom>
          <a:solidFill>
            <a:srgbClr val="F4F5F8"/>
          </a:solidFill>
          <a:ln w="15875">
            <a:solidFill>
              <a:srgbClr val="E6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9AA0BD"/>
                </a:solidFill>
                <a:latin typeface="Pretendard"/>
              </a:rPr>
              <a:t>섹션 소제목 (H2)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423160"/>
            <a:ext cx="51206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3A4170"/>
                </a:solidFill>
                <a:latin typeface="Pretendard"/>
              </a:rPr>
              <a:t>본문 설명 문장 (Body Large, 22px)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5120640"/>
            <a:ext cx="1828800" cy="502920"/>
          </a:xfrm>
          <a:prstGeom prst="roundRect">
            <a:avLst>
              <a:gd name="adj" fmla="val 50000"/>
            </a:avLst>
          </a:prstGeom>
          <a:solidFill>
            <a:srgbClr val="586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Poppins"/>
              </a:rPr>
              <a:t>자세히 보기</a:t>
            </a:r>
          </a:p>
        </p:txBody>
      </p:sp>
      <p:sp>
        <p:nvSpPr>
          <p:cNvPr id="8" name="Rectangle 7"/>
          <p:cNvSpPr/>
          <p:nvPr/>
        </p:nvSpPr>
        <p:spPr>
          <a:xfrm>
            <a:off x="6126480" y="1691640"/>
            <a:ext cx="5394960" cy="4206240"/>
          </a:xfrm>
          <a:prstGeom prst="rect">
            <a:avLst/>
          </a:prstGeom>
          <a:solidFill>
            <a:srgbClr val="F4F5F8"/>
          </a:solidFill>
          <a:ln w="15875">
            <a:solidFill>
              <a:srgbClr val="E6E8F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9AA0BD"/>
                </a:solidFill>
                <a:latin typeface="Pretendard"/>
              </a:rPr>
              <a:t>이미지 / 스크린샷 영역
(16:9 권장, cover fit)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537960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9AA0BD"/>
                </a:solidFill>
                <a:latin typeface="Poppins"/>
              </a:rPr>
              <a:t>MOBV Design System · v3 (Official Handoff)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53796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9AA0BD"/>
                </a:solidFill>
                <a:latin typeface="Poppin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2E9BC8"/>
                </a:solidFill>
                <a:latin typeface="Poppins"/>
              </a:rPr>
              <a:t>TEMPLATE · DATA / CHART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1C2350"/>
                </a:solidFill>
                <a:latin typeface="Pretendard"/>
              </a:rPr>
              <a:t>데이터 · 차트 슬라이드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457200" cy="50800"/>
          </a:xfrm>
          <a:prstGeom prst="rect">
            <a:avLst/>
          </a:prstGeom>
          <a:solidFill>
            <a:srgbClr val="5AD6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691640"/>
            <a:ext cx="10881360" cy="548640"/>
          </a:xfrm>
          <a:prstGeom prst="rect">
            <a:avLst/>
          </a:prstGeom>
          <a:solidFill>
            <a:srgbClr val="F4F5F8"/>
          </a:solidFill>
          <a:ln w="15875">
            <a:solidFill>
              <a:srgbClr val="E6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9AA0BD"/>
                </a:solidFill>
                <a:latin typeface="Pretendard"/>
              </a:rPr>
              <a:t>섹션 소제목 (데이터 요약)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560320"/>
            <a:ext cx="34747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000" b="1" i="0">
                <a:solidFill>
                  <a:srgbClr val="5865F2"/>
                </a:solidFill>
                <a:latin typeface="Poppins"/>
              </a:rPr>
              <a:t>2~5명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337560"/>
            <a:ext cx="3474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9AA0BD"/>
                </a:solidFill>
                <a:latin typeface="Pretendard"/>
              </a:rPr>
              <a:t>권장 인원</a:t>
            </a:r>
          </a:p>
        </p:txBody>
      </p:sp>
      <p:sp>
        <p:nvSpPr>
          <p:cNvPr id="8" name="Rectangle 7"/>
          <p:cNvSpPr/>
          <p:nvPr/>
        </p:nvSpPr>
        <p:spPr>
          <a:xfrm>
            <a:off x="4197096" y="2606040"/>
            <a:ext cx="19050" cy="822960"/>
          </a:xfrm>
          <a:prstGeom prst="rect">
            <a:avLst/>
          </a:prstGeom>
          <a:solidFill>
            <a:srgbClr val="E6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97680" y="2560320"/>
            <a:ext cx="34747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000" b="1" i="0">
                <a:solidFill>
                  <a:srgbClr val="5865F2"/>
                </a:solidFill>
                <a:latin typeface="Poppins"/>
              </a:rPr>
              <a:t>6~8주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0" y="3337560"/>
            <a:ext cx="3474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9AA0BD"/>
                </a:solidFill>
                <a:latin typeface="Pretendard"/>
              </a:rPr>
              <a:t>개발 일정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54696" y="2606040"/>
            <a:ext cx="19050" cy="822960"/>
          </a:xfrm>
          <a:prstGeom prst="rect">
            <a:avLst/>
          </a:prstGeom>
          <a:solidFill>
            <a:srgbClr val="E6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55280" y="2560320"/>
            <a:ext cx="34747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000" b="1" i="0">
                <a:solidFill>
                  <a:srgbClr val="5865F2"/>
                </a:solidFill>
                <a:latin typeface="Poppins"/>
              </a:rPr>
              <a:t>10개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80" y="3337560"/>
            <a:ext cx="3474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9AA0BD"/>
                </a:solidFill>
                <a:latin typeface="Pretendard"/>
              </a:rPr>
              <a:t>추천 장소 수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4114800"/>
            <a:ext cx="10881360" cy="1828800"/>
          </a:xfrm>
          <a:prstGeom prst="rect">
            <a:avLst/>
          </a:prstGeom>
          <a:solidFill>
            <a:srgbClr val="F4F5F8"/>
          </a:solidFill>
          <a:ln w="15875">
            <a:solidFill>
              <a:srgbClr val="E6E8F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9AA0BD"/>
                </a:solidFill>
                <a:latin typeface="Pretendard"/>
              </a:rPr>
              <a:t>차트/그래프 영역 (막대 · 선 · 파이 등)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537960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9AA0BD"/>
                </a:solidFill>
                <a:latin typeface="Poppins"/>
              </a:rPr>
              <a:t>MOBV Design System · v3 (Official Handoff)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53796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9AA0BD"/>
                </a:solidFill>
                <a:latin typeface="Poppin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2E9BC8"/>
                </a:solidFill>
                <a:latin typeface="Poppins"/>
              </a:rPr>
              <a:t>TEMPLATE · QUOTE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1C2350"/>
                </a:solidFill>
                <a:latin typeface="Pretendard"/>
              </a:rPr>
              <a:t>인용 슬라이드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457200" cy="50800"/>
          </a:xfrm>
          <a:prstGeom prst="rect">
            <a:avLst/>
          </a:prstGeom>
          <a:solidFill>
            <a:srgbClr val="5AD6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2103120"/>
            <a:ext cx="822960" cy="822960"/>
          </a:xfrm>
          <a:prstGeom prst="roundRect">
            <a:avLst>
              <a:gd name="adj" fmla="val 30000"/>
            </a:avLst>
          </a:prstGeom>
          <a:solidFill>
            <a:srgbClr val="2E9B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920240"/>
            <a:ext cx="8229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Poppins"/>
              </a:rPr>
              <a:t>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2011680"/>
            <a:ext cx="86868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1" i="1">
                <a:solidFill>
                  <a:srgbClr val="1C2350"/>
                </a:solidFill>
                <a:latin typeface="Pretendard"/>
              </a:rPr>
              <a:t>인용문 텍스트가 이 자리에 들어갑니다 (Body Large, 28px SemiBold Italic)</a:t>
            </a:r>
          </a:p>
        </p:txBody>
      </p:sp>
      <p:sp>
        <p:nvSpPr>
          <p:cNvPr id="8" name="Rectangle 7"/>
          <p:cNvSpPr/>
          <p:nvPr/>
        </p:nvSpPr>
        <p:spPr>
          <a:xfrm>
            <a:off x="1828800" y="4297680"/>
            <a:ext cx="640080" cy="19050"/>
          </a:xfrm>
          <a:prstGeom prst="rect">
            <a:avLst/>
          </a:prstGeom>
          <a:solidFill>
            <a:srgbClr val="E6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06040" y="416052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5865F2"/>
                </a:solidFill>
                <a:latin typeface="Pretendard"/>
              </a:rPr>
              <a:t>이름 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06040" y="448056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9AA0BD"/>
                </a:solidFill>
                <a:latin typeface="Pretendard"/>
              </a:rPr>
              <a:t>직함 · 소속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537960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9AA0BD"/>
                </a:solidFill>
                <a:latin typeface="Poppins"/>
              </a:rPr>
              <a:t>MOBV Design System · v3 (Official Handoff)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47120" y="653796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9AA0BD"/>
                </a:solidFill>
                <a:latin typeface="Poppin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2E9BC8"/>
                </a:solidFill>
                <a:latin typeface="Poppins"/>
              </a:rPr>
              <a:t>TEMPLATE · CLOSING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1C2350"/>
                </a:solidFill>
                <a:latin typeface="Pretendard"/>
              </a:rPr>
              <a:t>마무리 슬라이드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457200" cy="50800"/>
          </a:xfrm>
          <a:prstGeom prst="rect">
            <a:avLst/>
          </a:prstGeom>
          <a:solidFill>
            <a:srgbClr val="5AD6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691640"/>
            <a:ext cx="10881360" cy="434340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5865F2"/>
              </a:gs>
              <a:gs pos="100000">
                <a:srgbClr val="2E9BC8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mobv-symbo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1848" y="1965960"/>
            <a:ext cx="914400" cy="61668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371600" y="3063240"/>
            <a:ext cx="9052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 i="0">
                <a:solidFill>
                  <a:srgbClr val="E3F8F3"/>
                </a:solidFill>
                <a:latin typeface="Pretendard"/>
              </a:rPr>
              <a:t>모두가 괜찮은 곳에서 만나요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3474720"/>
            <a:ext cx="9052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Poppins"/>
              </a:rPr>
              <a:t>Where everyone meets.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937760" y="4389120"/>
            <a:ext cx="2286000" cy="54864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>
                <a:solidFill>
                  <a:srgbClr val="5865F2"/>
                </a:solidFill>
                <a:latin typeface="Poppins"/>
              </a:rPr>
              <a:t>GET STARTED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5394960"/>
            <a:ext cx="9052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 i="0">
                <a:solidFill>
                  <a:srgbClr val="E3F8F3"/>
                </a:solidFill>
                <a:latin typeface="Pretendard"/>
              </a:rPr>
              <a:t>연락처 / 다음 단계 안내 (Caption, 14px)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537960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9AA0BD"/>
                </a:solidFill>
                <a:latin typeface="Poppins"/>
              </a:rPr>
              <a:t>MOBV Design System · v3 (Official Handoff)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47120" y="653796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9AA0BD"/>
                </a:solidFill>
                <a:latin typeface="Poppins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
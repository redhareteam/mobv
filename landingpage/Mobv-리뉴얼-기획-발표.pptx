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obv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640080"/>
            <a:ext cx="2255086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1737360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9BC8"/>
                </a:solidFill>
                <a:latin typeface="Noto Sans KR"/>
                <a:ea typeface="Noto Sans KR"/>
                <a:cs typeface="Noto Sans KR"/>
              </a:rPr>
              <a:t>WHERE EVERYONE MEETS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69494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1" i="0">
                <a:solidFill>
                  <a:srgbClr val="1C2350"/>
                </a:solidFill>
                <a:latin typeface="Noto Sans KR"/>
                <a:ea typeface="Noto Sans KR"/>
                <a:cs typeface="Noto Sans KR"/>
              </a:rPr>
              <a:t>Chemeet에서 Mobv로</a:t>
            </a:r>
          </a:p>
          <a:p>
            <a:pPr algn="l">
              <a:lnSpc>
                <a:spcPct val="115000"/>
              </a:lnSpc>
            </a:pPr>
            <a:r>
              <a:rPr sz="3800" b="1" i="0">
                <a:solidFill>
                  <a:srgbClr val="1C2350"/>
                </a:solidFill>
                <a:latin typeface="Noto Sans KR"/>
                <a:ea typeface="Noto Sans KR"/>
                <a:cs typeface="Noto Sans KR"/>
              </a:rPr>
              <a:t>서비스 리뉴얼 기획 발표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03320"/>
            <a:ext cx="6766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3A4170"/>
                </a:solidFill>
                <a:latin typeface="Noto Sans KR"/>
                <a:ea typeface="Noto Sans KR"/>
                <a:cs typeface="Noto Sans KR"/>
              </a:rPr>
              <a:t>모두가 괜찮은 곳에서 만나요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343400"/>
            <a:ext cx="640080" cy="63500"/>
          </a:xfrm>
          <a:prstGeom prst="rect">
            <a:avLst/>
          </a:prstGeom>
          <a:solidFill>
            <a:srgbClr val="5AD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893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AA0BD"/>
                </a:solidFill>
                <a:latin typeface="Noto Sans KR"/>
                <a:ea typeface="Noto Sans KR"/>
                <a:cs typeface="Noto Sans KR"/>
              </a:rPr>
              <a:t>팀 적토마, 2026.06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49640" y="868680"/>
            <a:ext cx="2468880" cy="4987137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44450">
            <a:solidFill>
              <a:srgbClr val="1C2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64370" y="868680"/>
            <a:ext cx="839419" cy="146304"/>
          </a:xfrm>
          <a:prstGeom prst="roundRect">
            <a:avLst>
              <a:gd name="adj" fmla="val 60000"/>
            </a:avLst>
          </a:prstGeom>
          <a:solidFill>
            <a:srgbClr val="1C2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04504" y="1252728"/>
            <a:ext cx="2359152" cy="2892539"/>
          </a:xfrm>
          <a:prstGeom prst="rect">
            <a:avLst/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77656" y="1417320"/>
            <a:ext cx="1462674" cy="1462674"/>
          </a:xfrm>
          <a:prstGeom prst="ellipse">
            <a:avLst/>
          </a:prstGeom>
          <a:solidFill>
            <a:srgbClr val="586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427830" y="1417320"/>
            <a:ext cx="1462674" cy="1462674"/>
          </a:xfrm>
          <a:prstGeom prst="ellipse">
            <a:avLst/>
          </a:prstGeom>
          <a:solidFill>
            <a:srgbClr val="5AD6C0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628632" y="1993209"/>
            <a:ext cx="310896" cy="310896"/>
          </a:xfrm>
          <a:prstGeom prst="ellipse">
            <a:avLst/>
          </a:prstGeom>
          <a:solidFill>
            <a:srgbClr val="2E9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28632" y="1993209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14232" y="3944099"/>
            <a:ext cx="2139696" cy="174712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6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0536" y="4072115"/>
            <a:ext cx="18470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C2350"/>
                </a:solidFill>
                <a:latin typeface="Noto Sans KR"/>
                <a:ea typeface="Noto Sans KR"/>
                <a:cs typeface="Noto Sans KR"/>
              </a:rPr>
              <a:t>겹치는 범위를 찾았어요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0536" y="4346435"/>
            <a:ext cx="18470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9AA0BD"/>
                </a:solidFill>
                <a:latin typeface="Noto Sans KR"/>
                <a:ea typeface="Noto Sans KR"/>
                <a:cs typeface="Noto Sans KR"/>
              </a:rPr>
              <a:t>2km 반경, 자유롭게 조정할 수 있어요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60536" y="4693907"/>
            <a:ext cx="1847088" cy="329184"/>
          </a:xfrm>
          <a:prstGeom prst="roundRect">
            <a:avLst>
              <a:gd name="adj" fmla="val 50000"/>
            </a:avLst>
          </a:prstGeom>
          <a:solidFill>
            <a:srgbClr val="586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장소 추천 받기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5379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AA0BD"/>
                </a:solidFill>
                <a:latin typeface="Noto Sans KR"/>
                <a:ea typeface="Noto Sans KR"/>
                <a:cs typeface="Noto Sans KR"/>
              </a:rPr>
              <a:t>Mobv 리뉴얼 기획 발표, 팀 적토마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AA0BD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E9BC8"/>
                </a:solidFill>
                <a:latin typeface="Noto Sans KR"/>
                <a:ea typeface="Noto Sans KR"/>
                <a:cs typeface="Noto Sans KR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C2350"/>
                </a:solidFill>
                <a:latin typeface="Noto Sans KR"/>
                <a:ea typeface="Noto Sans KR"/>
                <a:cs typeface="Noto Sans KR"/>
              </a:rPr>
              <a:t>목차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457200" cy="50800"/>
          </a:xfrm>
          <a:prstGeom prst="rect">
            <a:avLst/>
          </a:prstGeom>
          <a:solidFill>
            <a:srgbClr val="5AD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54864" cy="457200"/>
          </a:xfrm>
          <a:prstGeom prst="rect">
            <a:avLst/>
          </a:prstGeom>
          <a:solidFill>
            <a:srgbClr val="5AD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828800"/>
            <a:ext cx="5120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C2350"/>
                </a:solidFill>
                <a:latin typeface="Noto Sans KR"/>
                <a:ea typeface="Noto Sans KR"/>
                <a:cs typeface="Noto Sans KR"/>
              </a:rPr>
              <a:t>00  앱 이름 변경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395728"/>
            <a:ext cx="5212080" cy="12700"/>
          </a:xfrm>
          <a:prstGeom prst="rect">
            <a:avLst/>
          </a:prstGeom>
          <a:solidFill>
            <a:srgbClr val="E6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578608"/>
            <a:ext cx="54864" cy="457200"/>
          </a:xfrm>
          <a:prstGeom prst="rect">
            <a:avLst/>
          </a:prstGeom>
          <a:solidFill>
            <a:srgbClr val="5AD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578608"/>
            <a:ext cx="5120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C2350"/>
                </a:solidFill>
                <a:latin typeface="Noto Sans KR"/>
                <a:ea typeface="Noto Sans KR"/>
                <a:cs typeface="Noto Sans KR"/>
              </a:rPr>
              <a:t>01  브랜드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145536"/>
            <a:ext cx="5212080" cy="12700"/>
          </a:xfrm>
          <a:prstGeom prst="rect">
            <a:avLst/>
          </a:prstGeom>
          <a:solidFill>
            <a:srgbClr val="E6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328416"/>
            <a:ext cx="54864" cy="457200"/>
          </a:xfrm>
          <a:prstGeom prst="rect">
            <a:avLst/>
          </a:prstGeom>
          <a:solidFill>
            <a:srgbClr val="5AD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328416"/>
            <a:ext cx="5120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C2350"/>
                </a:solidFill>
                <a:latin typeface="Noto Sans KR"/>
                <a:ea typeface="Noto Sans KR"/>
                <a:cs typeface="Noto Sans KR"/>
              </a:rPr>
              <a:t>02  리뉴얼 배경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895344"/>
            <a:ext cx="5212080" cy="12700"/>
          </a:xfrm>
          <a:prstGeom prst="rect">
            <a:avLst/>
          </a:prstGeom>
          <a:solidFill>
            <a:srgbClr val="E6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4078224"/>
            <a:ext cx="54864" cy="457200"/>
          </a:xfrm>
          <a:prstGeom prst="rect">
            <a:avLst/>
          </a:prstGeom>
          <a:solidFill>
            <a:srgbClr val="5AD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078224"/>
            <a:ext cx="5120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C2350"/>
                </a:solidFill>
                <a:latin typeface="Noto Sans KR"/>
                <a:ea typeface="Noto Sans KR"/>
                <a:cs typeface="Noto Sans KR"/>
              </a:rPr>
              <a:t>04  핵심 개념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645152"/>
            <a:ext cx="5212080" cy="12700"/>
          </a:xfrm>
          <a:prstGeom prst="rect">
            <a:avLst/>
          </a:prstGeom>
          <a:solidFill>
            <a:srgbClr val="E6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4828032"/>
            <a:ext cx="54864" cy="457200"/>
          </a:xfrm>
          <a:prstGeom prst="rect">
            <a:avLst/>
          </a:prstGeom>
          <a:solidFill>
            <a:srgbClr val="5AD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2"/>
            <a:ext cx="5120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C2350"/>
                </a:solidFill>
                <a:latin typeface="Noto Sans KR"/>
                <a:ea typeface="Noto Sans KR"/>
                <a:cs typeface="Noto Sans KR"/>
              </a:rPr>
              <a:t>05  변경사항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5394960"/>
            <a:ext cx="5212080" cy="12700"/>
          </a:xfrm>
          <a:prstGeom prst="rect">
            <a:avLst/>
          </a:prstGeom>
          <a:solidFill>
            <a:srgbClr val="E6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5577840"/>
            <a:ext cx="54864" cy="457200"/>
          </a:xfrm>
          <a:prstGeom prst="rect">
            <a:avLst/>
          </a:prstGeom>
          <a:solidFill>
            <a:srgbClr val="5AD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5577840"/>
            <a:ext cx="5120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C2350"/>
                </a:solidFill>
                <a:latin typeface="Noto Sans KR"/>
                <a:ea typeface="Noto Sans KR"/>
                <a:cs typeface="Noto Sans KR"/>
              </a:rPr>
              <a:t>06  사용자 플로우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6144768"/>
            <a:ext cx="5212080" cy="12700"/>
          </a:xfrm>
          <a:prstGeom prst="rect">
            <a:avLst/>
          </a:prstGeom>
          <a:solidFill>
            <a:srgbClr val="E6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09360" y="1828800"/>
            <a:ext cx="54864" cy="457200"/>
          </a:xfrm>
          <a:prstGeom prst="rect">
            <a:avLst/>
          </a:prstGeom>
          <a:solidFill>
            <a:srgbClr val="5AD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65392" y="1828800"/>
            <a:ext cx="5120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C2350"/>
                </a:solidFill>
                <a:latin typeface="Noto Sans KR"/>
                <a:ea typeface="Noto Sans KR"/>
                <a:cs typeface="Noto Sans KR"/>
              </a:rPr>
              <a:t>07  개발 일정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2395728"/>
            <a:ext cx="5212080" cy="12700"/>
          </a:xfrm>
          <a:prstGeom prst="rect">
            <a:avLst/>
          </a:prstGeom>
          <a:solidFill>
            <a:srgbClr val="E6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9360" y="2578608"/>
            <a:ext cx="54864" cy="457200"/>
          </a:xfrm>
          <a:prstGeom prst="rect">
            <a:avLst/>
          </a:prstGeom>
          <a:solidFill>
            <a:srgbClr val="5AD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65392" y="2578608"/>
            <a:ext cx="5120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C2350"/>
                </a:solidFill>
                <a:latin typeface="Noto Sans KR"/>
                <a:ea typeface="Noto Sans KR"/>
                <a:cs typeface="Noto Sans KR"/>
              </a:rPr>
              <a:t>08  예상 비용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3145536"/>
            <a:ext cx="5212080" cy="12700"/>
          </a:xfrm>
          <a:prstGeom prst="rect">
            <a:avLst/>
          </a:prstGeom>
          <a:solidFill>
            <a:srgbClr val="E6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09360" y="3328416"/>
            <a:ext cx="54864" cy="457200"/>
          </a:xfrm>
          <a:prstGeom prst="rect">
            <a:avLst/>
          </a:prstGeom>
          <a:solidFill>
            <a:srgbClr val="5AD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65392" y="3328416"/>
            <a:ext cx="5120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C2350"/>
                </a:solidFill>
                <a:latin typeface="Noto Sans KR"/>
                <a:ea typeface="Noto Sans KR"/>
                <a:cs typeface="Noto Sans KR"/>
              </a:rPr>
              <a:t>09  보안 체크리스트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3895344"/>
            <a:ext cx="5212080" cy="12700"/>
          </a:xfrm>
          <a:prstGeom prst="rect">
            <a:avLst/>
          </a:prstGeom>
          <a:solidFill>
            <a:srgbClr val="E6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09360" y="4078224"/>
            <a:ext cx="54864" cy="457200"/>
          </a:xfrm>
          <a:prstGeom prst="rect">
            <a:avLst/>
          </a:prstGeom>
          <a:solidFill>
            <a:srgbClr val="5AD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65392" y="4078224"/>
            <a:ext cx="5120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C2350"/>
                </a:solidFill>
                <a:latin typeface="Noto Sans KR"/>
                <a:ea typeface="Noto Sans KR"/>
                <a:cs typeface="Noto Sans KR"/>
              </a:rPr>
              <a:t>10  출시 전략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4645152"/>
            <a:ext cx="5212080" cy="12700"/>
          </a:xfrm>
          <a:prstGeom prst="rect">
            <a:avLst/>
          </a:prstGeom>
          <a:solidFill>
            <a:srgbClr val="E6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09360" y="4828032"/>
            <a:ext cx="54864" cy="457200"/>
          </a:xfrm>
          <a:prstGeom prst="rect">
            <a:avLst/>
          </a:prstGeom>
          <a:solidFill>
            <a:srgbClr val="5AD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65392" y="4828032"/>
            <a:ext cx="5120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C2350"/>
                </a:solidFill>
                <a:latin typeface="Noto Sans KR"/>
                <a:ea typeface="Noto Sans KR"/>
                <a:cs typeface="Noto Sans KR"/>
              </a:rPr>
              <a:t>11  출시 전 검증 계획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09360" y="5394960"/>
            <a:ext cx="5212080" cy="12700"/>
          </a:xfrm>
          <a:prstGeom prst="rect">
            <a:avLst/>
          </a:prstGeom>
          <a:solidFill>
            <a:srgbClr val="E6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65379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AA0BD"/>
                </a:solidFill>
                <a:latin typeface="Noto Sans KR"/>
                <a:ea typeface="Noto Sans KR"/>
                <a:cs typeface="Noto Sans KR"/>
              </a:rPr>
              <a:t>Mobv 리뉴얼 기획 발표, 팀 적토마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AA0BD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E9BC8"/>
                </a:solidFill>
                <a:latin typeface="Noto Sans KR"/>
                <a:ea typeface="Noto Sans KR"/>
                <a:cs typeface="Noto Sans KR"/>
              </a:rPr>
              <a:t>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C2350"/>
                </a:solidFill>
                <a:latin typeface="Noto Sans KR"/>
                <a:ea typeface="Noto Sans KR"/>
                <a:cs typeface="Noto Sans KR"/>
              </a:rPr>
              <a:t>앱 이름 변경 - Chemeet → Mobv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457200" cy="50800"/>
          </a:xfrm>
          <a:prstGeom prst="rect">
            <a:avLst/>
          </a:prstGeom>
          <a:solidFill>
            <a:srgbClr val="5AD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5379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AA0BD"/>
                </a:solidFill>
                <a:latin typeface="Noto Sans KR"/>
                <a:ea typeface="Noto Sans KR"/>
                <a:cs typeface="Noto Sans KR"/>
              </a:rPr>
              <a:t>Mobv 리뉴얼 기획 발표, 팀 적토마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AA0BD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3A4170"/>
                </a:solidFill>
                <a:latin typeface="Noto Sans KR"/>
                <a:ea typeface="Noto Sans KR"/>
                <a:cs typeface="Noto Sans KR"/>
              </a:rPr>
              <a:t>기존 이름 Chemeet과 동일한 서비스가 이미 존재해 출시 시 식별성 문제 우려. 4가지 기준으로 검토 후 Mobv로 확정.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240280"/>
            <a:ext cx="2606040" cy="1051560"/>
          </a:xfrm>
          <a:prstGeom prst="roundRect">
            <a:avLst>
              <a:gd name="adj" fmla="val 10000"/>
            </a:avLst>
          </a:prstGeom>
          <a:solidFill>
            <a:srgbClr val="F4F5F8"/>
          </a:solidFill>
          <a:ln w="12700">
            <a:solidFill>
              <a:srgbClr val="E6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04672" y="2404872"/>
            <a:ext cx="256032" cy="256032"/>
          </a:xfrm>
          <a:prstGeom prst="ellipse">
            <a:avLst/>
          </a:prstGeom>
          <a:solidFill>
            <a:srgbClr val="2BB6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404872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743200"/>
            <a:ext cx="22768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C2350"/>
                </a:solidFill>
                <a:latin typeface="Noto Sans KR"/>
                <a:ea typeface="Noto Sans KR"/>
                <a:cs typeface="Noto Sans KR"/>
              </a:rPr>
              <a:t>플레이스토어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3035808"/>
            <a:ext cx="227685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9AA0BD"/>
                </a:solidFill>
                <a:latin typeface="Noto Sans KR"/>
                <a:ea typeface="Noto Sans KR"/>
                <a:cs typeface="Noto Sans KR"/>
              </a:rPr>
              <a:t>동일 이름 앱 없음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2240280"/>
            <a:ext cx="2606040" cy="1051560"/>
          </a:xfrm>
          <a:prstGeom prst="roundRect">
            <a:avLst>
              <a:gd name="adj" fmla="val 10000"/>
            </a:avLst>
          </a:prstGeom>
          <a:solidFill>
            <a:srgbClr val="F4F5F8"/>
          </a:solidFill>
          <a:ln w="12700">
            <a:solidFill>
              <a:srgbClr val="E6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47872" y="2404872"/>
            <a:ext cx="256032" cy="256032"/>
          </a:xfrm>
          <a:prstGeom prst="ellipse">
            <a:avLst/>
          </a:prstGeom>
          <a:solidFill>
            <a:srgbClr val="2BB6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47872" y="2404872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47872" y="2743200"/>
            <a:ext cx="22768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C2350"/>
                </a:solidFill>
                <a:latin typeface="Noto Sans KR"/>
                <a:ea typeface="Noto Sans KR"/>
                <a:cs typeface="Noto Sans KR"/>
              </a:rPr>
              <a:t>앱스토어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47872" y="3035808"/>
            <a:ext cx="227685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9AA0BD"/>
                </a:solidFill>
                <a:latin typeface="Noto Sans KR"/>
                <a:ea typeface="Noto Sans KR"/>
                <a:cs typeface="Noto Sans KR"/>
              </a:rPr>
              <a:t>동일 이름 앱 없음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2240280"/>
            <a:ext cx="2606040" cy="1051560"/>
          </a:xfrm>
          <a:prstGeom prst="roundRect">
            <a:avLst>
              <a:gd name="adj" fmla="val 10000"/>
            </a:avLst>
          </a:prstGeom>
          <a:solidFill>
            <a:srgbClr val="F4F5F8"/>
          </a:solidFill>
          <a:ln w="12700">
            <a:solidFill>
              <a:srgbClr val="E6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291072" y="2404872"/>
            <a:ext cx="256032" cy="256032"/>
          </a:xfrm>
          <a:prstGeom prst="ellipse">
            <a:avLst/>
          </a:prstGeom>
          <a:solidFill>
            <a:srgbClr val="2BB6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91072" y="2404872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91072" y="2743200"/>
            <a:ext cx="22768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C2350"/>
                </a:solidFill>
                <a:latin typeface="Noto Sans KR"/>
                <a:ea typeface="Noto Sans KR"/>
                <a:cs typeface="Noto Sans KR"/>
              </a:rPr>
              <a:t>도메인 kr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1072" y="3035808"/>
            <a:ext cx="227685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9AA0BD"/>
                </a:solidFill>
                <a:latin typeface="Noto Sans KR"/>
                <a:ea typeface="Noto Sans KR"/>
                <a:cs typeface="Noto Sans KR"/>
              </a:rPr>
              <a:t>mobv.kr 등록 가능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69680" y="2240280"/>
            <a:ext cx="2606040" cy="1051560"/>
          </a:xfrm>
          <a:prstGeom prst="roundRect">
            <a:avLst>
              <a:gd name="adj" fmla="val 10000"/>
            </a:avLst>
          </a:prstGeom>
          <a:solidFill>
            <a:srgbClr val="F4F5F8"/>
          </a:solidFill>
          <a:ln w="12700">
            <a:solidFill>
              <a:srgbClr val="E6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034272" y="2404872"/>
            <a:ext cx="256032" cy="256032"/>
          </a:xfrm>
          <a:prstGeom prst="ellipse">
            <a:avLst/>
          </a:prstGeom>
          <a:solidFill>
            <a:srgbClr val="2BB6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34272" y="2404872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34272" y="2743200"/>
            <a:ext cx="22768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C2350"/>
                </a:solidFill>
                <a:latin typeface="Noto Sans KR"/>
                <a:ea typeface="Noto Sans KR"/>
                <a:cs typeface="Noto Sans KR"/>
              </a:rPr>
              <a:t>인스타그램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34272" y="3035808"/>
            <a:ext cx="227685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9AA0BD"/>
                </a:solidFill>
                <a:latin typeface="Noto Sans KR"/>
                <a:ea typeface="Noto Sans KR"/>
                <a:cs typeface="Noto Sans KR"/>
              </a:rPr>
              <a:t>@mobv 사용 가능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36118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3A4170"/>
                </a:solidFill>
                <a:latin typeface="Noto Sans KR"/>
                <a:ea typeface="Noto Sans KR"/>
                <a:cs typeface="Noto Sans KR"/>
              </a:rPr>
              <a:t>모이다의 '모'와 Move의 '브'를 합쳤어요 - 이름보다 슬로건으로 서비스 정체성을 전달하는 전략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4160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C2350"/>
                </a:solidFill>
                <a:latin typeface="Noto Sans KR"/>
                <a:ea typeface="Noto Sans KR"/>
                <a:cs typeface="Noto Sans KR"/>
              </a:rPr>
              <a:t>추가 후보 검토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4526280"/>
            <a:ext cx="1554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865F2"/>
                </a:solidFill>
                <a:latin typeface="Noto Sans KR"/>
                <a:ea typeface="Noto Sans KR"/>
                <a:cs typeface="Noto Sans KR"/>
              </a:rPr>
              <a:t>Venn, 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86000" y="4526280"/>
            <a:ext cx="8961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3A4170"/>
                </a:solidFill>
                <a:latin typeface="Noto Sans KR"/>
                <a:ea typeface="Noto Sans KR"/>
                <a:cs typeface="Noto Sans KR"/>
              </a:rPr>
              <a:t>컨셉 전달력 최고, 단 교육 콘텐츠에 묻힐 우려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4892040"/>
            <a:ext cx="1554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865F2"/>
                </a:solidFill>
                <a:latin typeface="Noto Sans KR"/>
                <a:ea typeface="Noto Sans KR"/>
                <a:cs typeface="Noto Sans KR"/>
              </a:rPr>
              <a:t>Meeve, 미브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86000" y="4892040"/>
            <a:ext cx="8961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3A4170"/>
                </a:solidFill>
                <a:latin typeface="Noto Sans KR"/>
                <a:ea typeface="Noto Sans KR"/>
                <a:cs typeface="Noto Sans KR"/>
              </a:rPr>
              <a:t>발음 자연스럽고 검색 독립성 확보 가능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5257800"/>
            <a:ext cx="1554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865F2"/>
                </a:solidFill>
                <a:latin typeface="Noto Sans KR"/>
                <a:ea typeface="Noto Sans KR"/>
                <a:cs typeface="Noto Sans KR"/>
              </a:rPr>
              <a:t>Moove, 무브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86000" y="5257800"/>
            <a:ext cx="8961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3A4170"/>
                </a:solidFill>
                <a:latin typeface="Noto Sans KR"/>
                <a:ea typeface="Noto Sans KR"/>
                <a:cs typeface="Noto Sans KR"/>
              </a:rPr>
              <a:t>'오타' 느낌, move 검색에 묻힐 가능성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" y="5806440"/>
            <a:ext cx="10881360" cy="594360"/>
          </a:xfrm>
          <a:prstGeom prst="roundRect">
            <a:avLst>
              <a:gd name="adj" fmla="val 10000"/>
            </a:avLst>
          </a:prstGeom>
          <a:solidFill>
            <a:srgbClr val="586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5806440"/>
            <a:ext cx="1033272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결론: Mobv가 현재 기준 가장 합리적인 선택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E9BC8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C2350"/>
                </a:solidFill>
                <a:latin typeface="Noto Sans KR"/>
                <a:ea typeface="Noto Sans KR"/>
                <a:cs typeface="Noto Sans KR"/>
              </a:rPr>
              <a:t>브랜드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457200" cy="50800"/>
          </a:xfrm>
          <a:prstGeom prst="rect">
            <a:avLst/>
          </a:prstGeom>
          <a:solidFill>
            <a:srgbClr val="5AD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5379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AA0BD"/>
                </a:solidFill>
                <a:latin typeface="Noto Sans KR"/>
                <a:ea typeface="Noto Sans KR"/>
                <a:cs typeface="Noto Sans KR"/>
              </a:rPr>
              <a:t>Mobv 리뉴얼 기획 발표, 팀 적토마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AA0BD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5120640" cy="1371600"/>
          </a:xfrm>
          <a:prstGeom prst="roundRect">
            <a:avLst>
              <a:gd name="adj" fmla="val 8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C2350"/>
                </a:solidFill>
                <a:latin typeface="Noto Sans KR"/>
                <a:ea typeface="Noto Sans KR"/>
                <a:cs typeface="Noto Sans KR"/>
              </a:rPr>
              <a:t>모두가 괜찮은 곳에서 만나요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1">
                <a:solidFill>
                  <a:srgbClr val="2E9BC8"/>
                </a:solidFill>
                <a:latin typeface="Noto Sans KR"/>
                <a:ea typeface="Noto Sans KR"/>
                <a:cs typeface="Noto Sans KR"/>
              </a:rPr>
              <a:t>Where everyone meets.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246120"/>
            <a:ext cx="2286000" cy="1005840"/>
          </a:xfrm>
          <a:prstGeom prst="roundRect">
            <a:avLst>
              <a:gd name="adj" fmla="val 14000"/>
            </a:avLst>
          </a:prstGeom>
          <a:solidFill>
            <a:srgbClr val="586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325112"/>
            <a:ext cx="2286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C2350"/>
                </a:solidFill>
                <a:latin typeface="Noto Sans KR"/>
                <a:ea typeface="Noto Sans KR"/>
                <a:cs typeface="Noto Sans KR"/>
              </a:rPr>
              <a:t>Primary, Indigo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572000"/>
            <a:ext cx="2286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9AA0BD"/>
                </a:solidFill>
                <a:latin typeface="Noto Sans KR"/>
                <a:ea typeface="Noto Sans KR"/>
                <a:cs typeface="Noto Sans KR"/>
              </a:rPr>
              <a:t>#5865F2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78231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AA0BD"/>
                </a:solidFill>
                <a:latin typeface="Noto Sans KR"/>
                <a:ea typeface="Noto Sans KR"/>
                <a:cs typeface="Noto Sans KR"/>
              </a:rPr>
              <a:t>신뢰감 / 전문성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0" y="3246120"/>
            <a:ext cx="2286000" cy="1005840"/>
          </a:xfrm>
          <a:prstGeom prst="roundRect">
            <a:avLst>
              <a:gd name="adj" fmla="val 14000"/>
            </a:avLst>
          </a:prstGeom>
          <a:solidFill>
            <a:srgbClr val="5AD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0" y="4325112"/>
            <a:ext cx="2286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C2350"/>
                </a:solidFill>
                <a:latin typeface="Noto Sans KR"/>
                <a:ea typeface="Noto Sans KR"/>
                <a:cs typeface="Noto Sans KR"/>
              </a:rPr>
              <a:t>Secondary, Mint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4572000"/>
            <a:ext cx="2286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9AA0BD"/>
                </a:solidFill>
                <a:latin typeface="Noto Sans KR"/>
                <a:ea typeface="Noto Sans KR"/>
                <a:cs typeface="Noto Sans KR"/>
              </a:rPr>
              <a:t>#5AD6C0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478231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AA0BD"/>
                </a:solidFill>
                <a:latin typeface="Noto Sans KR"/>
                <a:ea typeface="Noto Sans KR"/>
                <a:cs typeface="Noto Sans KR"/>
              </a:rPr>
              <a:t>친근함 / 활기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60720" y="3246120"/>
            <a:ext cx="2286000" cy="1005840"/>
          </a:xfrm>
          <a:prstGeom prst="roundRect">
            <a:avLst>
              <a:gd name="adj" fmla="val 14000"/>
            </a:avLst>
          </a:prstGeom>
          <a:solidFill>
            <a:srgbClr val="2E9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0" y="4325112"/>
            <a:ext cx="2286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C2350"/>
                </a:solidFill>
                <a:latin typeface="Noto Sans KR"/>
                <a:ea typeface="Noto Sans KR"/>
                <a:cs typeface="Noto Sans KR"/>
              </a:rPr>
              <a:t>Accent, Teal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0" y="4572000"/>
            <a:ext cx="2286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9AA0BD"/>
                </a:solidFill>
                <a:latin typeface="Noto Sans KR"/>
                <a:ea typeface="Noto Sans KR"/>
                <a:cs typeface="Noto Sans KR"/>
              </a:rPr>
              <a:t>#2E9BC8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478231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AA0BD"/>
                </a:solidFill>
                <a:latin typeface="Noto Sans KR"/>
                <a:ea typeface="Noto Sans KR"/>
                <a:cs typeface="Noto Sans KR"/>
              </a:rPr>
              <a:t>교집합 / 합의 영역</a:t>
            </a:r>
          </a:p>
        </p:txBody>
      </p:sp>
      <p:pic>
        <p:nvPicPr>
          <p:cNvPr id="22" name="Picture 21" descr="mobv-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0" y="3108960"/>
            <a:ext cx="2103120" cy="1418383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40080" y="480060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3A4170"/>
                </a:solidFill>
                <a:latin typeface="Noto Sans KR"/>
                <a:ea typeface="Noto Sans KR"/>
                <a:cs typeface="Noto Sans KR"/>
              </a:rPr>
              <a:t>교집합 색 Teal은 Indigo와 Mint의 중간값 - '두 사람의 합의'를 색으로 표현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E9BC8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C2350"/>
                </a:solidFill>
                <a:latin typeface="Noto Sans KR"/>
                <a:ea typeface="Noto Sans KR"/>
                <a:cs typeface="Noto Sans KR"/>
              </a:rPr>
              <a:t>리뉴얼 배경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457200" cy="50800"/>
          </a:xfrm>
          <a:prstGeom prst="rect">
            <a:avLst/>
          </a:prstGeom>
          <a:solidFill>
            <a:srgbClr val="5AD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5379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AA0BD"/>
                </a:solidFill>
                <a:latin typeface="Noto Sans KR"/>
                <a:ea typeface="Noto Sans KR"/>
                <a:cs typeface="Noto Sans KR"/>
              </a:rPr>
              <a:t>Mobv 리뉴얼 기획 발표, 팀 적토마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AA0BD"/>
                </a:solidFill>
                <a:latin typeface="Noto Sans KR"/>
                <a:ea typeface="Noto Sans KR"/>
                <a:cs typeface="Noto Sans KR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9AA0BD"/>
                </a:solidFill>
                <a:latin typeface="Noto Sans KR"/>
                <a:ea typeface="Noto Sans KR"/>
                <a:cs typeface="Noto Sans KR"/>
              </a:rPr>
              <a:t>기존 Chemeet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5865F2"/>
                </a:solidFill>
                <a:latin typeface="Noto Sans KR"/>
                <a:ea typeface="Noto Sans KR"/>
                <a:cs typeface="Noto Sans KR"/>
              </a:rPr>
              <a:t>Mobv 리뉴얼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03120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F4F5F8"/>
          </a:solidFill>
          <a:ln w="12700">
            <a:solidFill>
              <a:srgbClr val="E6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103120"/>
            <a:ext cx="45720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9AA0BD"/>
                </a:solidFill>
                <a:latin typeface="Noto Sans KR"/>
                <a:ea typeface="Noto Sans KR"/>
                <a:cs typeface="Noto Sans KR"/>
              </a:rPr>
              <a:t>카카오톡 파일 업로드 필요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103120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EEF0FE"/>
          </a:solidFill>
          <a:ln w="12700">
            <a:solidFill>
              <a:srgbClr val="5865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2103120"/>
            <a:ext cx="45720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C2350"/>
                </a:solidFill>
                <a:latin typeface="Noto Sans KR"/>
                <a:ea typeface="Noto Sans KR"/>
                <a:cs typeface="Noto Sans KR"/>
              </a:rPr>
              <a:t>지도에서 원 그리기로 즉시 시작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2103120"/>
            <a:ext cx="6400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2E9BC8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200400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F4F5F8"/>
          </a:solidFill>
          <a:ln w="12700">
            <a:solidFill>
              <a:srgbClr val="E6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200400"/>
            <a:ext cx="45720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9AA0BD"/>
                </a:solidFill>
                <a:latin typeface="Noto Sans KR"/>
                <a:ea typeface="Noto Sans KR"/>
                <a:cs typeface="Noto Sans KR"/>
              </a:rPr>
              <a:t>선호 분석 → GPT 의존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200400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EEF0FE"/>
          </a:solidFill>
          <a:ln w="12700">
            <a:solidFill>
              <a:srgbClr val="5865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3200400"/>
            <a:ext cx="45720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C2350"/>
                </a:solidFill>
                <a:latin typeface="Noto Sans KR"/>
                <a:ea typeface="Noto Sans KR"/>
                <a:cs typeface="Noto Sans KR"/>
              </a:rPr>
              <a:t>사용자가 직접 범위 표현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3200400"/>
            <a:ext cx="6400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2E9BC8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297680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F4F5F8"/>
          </a:solidFill>
          <a:ln w="12700">
            <a:solidFill>
              <a:srgbClr val="E6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297680"/>
            <a:ext cx="45720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9AA0BD"/>
                </a:solidFill>
                <a:latin typeface="Noto Sans KR"/>
                <a:ea typeface="Noto Sans KR"/>
                <a:cs typeface="Noto Sans KR"/>
              </a:rPr>
              <a:t>장소 추천만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4297680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EEF0FE"/>
          </a:solidFill>
          <a:ln w="12700">
            <a:solidFill>
              <a:srgbClr val="5865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4297680"/>
            <a:ext cx="45720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C2350"/>
                </a:solidFill>
                <a:latin typeface="Noto Sans KR"/>
                <a:ea typeface="Noto Sans KR"/>
                <a:cs typeface="Noto Sans KR"/>
              </a:rPr>
              <a:t>장소 추천 + 날짜 조율 동시 해결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0" y="4297680"/>
            <a:ext cx="6400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2E9BC8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E9BC8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C2350"/>
                </a:solidFill>
                <a:latin typeface="Noto Sans KR"/>
                <a:ea typeface="Noto Sans KR"/>
                <a:cs typeface="Noto Sans KR"/>
              </a:rPr>
              <a:t>핵심 개념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457200" cy="50800"/>
          </a:xfrm>
          <a:prstGeom prst="rect">
            <a:avLst/>
          </a:prstGeom>
          <a:solidFill>
            <a:srgbClr val="5AD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5379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AA0BD"/>
                </a:solidFill>
                <a:latin typeface="Noto Sans KR"/>
                <a:ea typeface="Noto Sans KR"/>
                <a:cs typeface="Noto Sans KR"/>
              </a:rPr>
              <a:t>Mobv 리뉴얼 기획 발표, 팀 적토마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AA0BD"/>
                </a:solidFill>
                <a:latin typeface="Noto Sans KR"/>
                <a:ea typeface="Noto Sans KR"/>
                <a:cs typeface="Noto Sans KR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4206240" cy="3840480"/>
          </a:xfrm>
          <a:prstGeom prst="roundRect">
            <a:avLst>
              <a:gd name="adj" fmla="val 10000"/>
            </a:avLst>
          </a:prstGeom>
          <a:solidFill>
            <a:srgbClr val="F4F5F8"/>
          </a:solidFill>
          <a:ln w="12700">
            <a:solidFill>
              <a:srgbClr val="E6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obv-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2423160"/>
            <a:ext cx="3017520" cy="203507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0" y="1737360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5865F2"/>
                </a:solidFill>
                <a:latin typeface="Noto Sans KR"/>
                <a:ea typeface="Noto Sans KR"/>
                <a:cs typeface="Noto Sans KR"/>
              </a:rPr>
              <a:t>원 그리기 = 만나도 괜찮은 범위</a:t>
            </a:r>
          </a:p>
        </p:txBody>
      </p:sp>
      <p:sp>
        <p:nvSpPr>
          <p:cNvPr id="10" name="Oval 9"/>
          <p:cNvSpPr/>
          <p:nvPr/>
        </p:nvSpPr>
        <p:spPr>
          <a:xfrm>
            <a:off x="5486400" y="2212848"/>
            <a:ext cx="82296" cy="82296"/>
          </a:xfrm>
          <a:prstGeom prst="ellipse">
            <a:avLst/>
          </a:prstGeom>
          <a:solidFill>
            <a:srgbClr val="586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15000" y="2148840"/>
            <a:ext cx="5760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3A4170"/>
                </a:solidFill>
                <a:latin typeface="Noto Sans KR"/>
                <a:ea typeface="Noto Sans KR"/>
                <a:cs typeface="Noto Sans KR"/>
              </a:rPr>
              <a:t>출발지 기반이 아니라, 각자 만나도 괜찮다고 생각하는 지역을 원으로 자유롭게 표시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0" y="2715768"/>
            <a:ext cx="82296" cy="82296"/>
          </a:xfrm>
          <a:prstGeom prst="ellipse">
            <a:avLst/>
          </a:prstGeom>
          <a:solidFill>
            <a:srgbClr val="586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15000" y="2651760"/>
            <a:ext cx="5760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3A4170"/>
                </a:solidFill>
                <a:latin typeface="Noto Sans KR"/>
                <a:ea typeface="Noto Sans KR"/>
                <a:cs typeface="Noto Sans KR"/>
              </a:rPr>
              <a:t>UI 문구: "이 범위 안이라면 만나도 괜찮아요"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0" y="3218688"/>
            <a:ext cx="82296" cy="82296"/>
          </a:xfrm>
          <a:prstGeom prst="ellipse">
            <a:avLst/>
          </a:prstGeom>
          <a:solidFill>
            <a:srgbClr val="586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5000" y="3154680"/>
            <a:ext cx="5760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3A4170"/>
                </a:solidFill>
                <a:latin typeface="Noto Sans KR"/>
                <a:ea typeface="Noto Sans KR"/>
                <a:cs typeface="Noto Sans KR"/>
              </a:rPr>
              <a:t>기본 반경 2km 자동 제공 → 사용자가 자유롭게 조정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3840480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E9BC8"/>
                </a:solidFill>
                <a:latin typeface="Noto Sans KR"/>
                <a:ea typeface="Noto Sans KR"/>
                <a:cs typeface="Noto Sans KR"/>
              </a:rPr>
              <a:t>교집합 = 모두가 허용한 구역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0" y="4361688"/>
            <a:ext cx="82296" cy="82296"/>
          </a:xfrm>
          <a:prstGeom prst="ellipse">
            <a:avLst/>
          </a:prstGeom>
          <a:solidFill>
            <a:srgbClr val="2E9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15000" y="4297680"/>
            <a:ext cx="5760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3A4170"/>
                </a:solidFill>
                <a:latin typeface="Noto Sans KR"/>
                <a:ea typeface="Noto Sans KR"/>
                <a:cs typeface="Noto Sans KR"/>
              </a:rPr>
              <a:t>각자 그린 원이 겹치는 영역 = 모두가 괜찮다고 한 지역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0" y="4864608"/>
            <a:ext cx="82296" cy="82296"/>
          </a:xfrm>
          <a:prstGeom prst="ellipse">
            <a:avLst/>
          </a:prstGeom>
          <a:solidFill>
            <a:srgbClr val="2E9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15000" y="4800600"/>
            <a:ext cx="5760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3A4170"/>
                </a:solidFill>
                <a:latin typeface="Noto Sans KR"/>
                <a:ea typeface="Noto Sans KR"/>
                <a:cs typeface="Noto Sans KR"/>
              </a:rPr>
              <a:t>교집합 중심 영역 기준으로 장소 추천</a:t>
            </a:r>
          </a:p>
        </p:txBody>
      </p:sp>
      <p:sp>
        <p:nvSpPr>
          <p:cNvPr id="21" name="Oval 20"/>
          <p:cNvSpPr/>
          <p:nvPr/>
        </p:nvSpPr>
        <p:spPr>
          <a:xfrm>
            <a:off x="5486400" y="5367528"/>
            <a:ext cx="82296" cy="82296"/>
          </a:xfrm>
          <a:prstGeom prst="ellipse">
            <a:avLst/>
          </a:prstGeom>
          <a:solidFill>
            <a:srgbClr val="2E9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5000" y="5303520"/>
            <a:ext cx="5760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3A4170"/>
                </a:solidFill>
                <a:latin typeface="Noto Sans KR"/>
                <a:ea typeface="Noto Sans KR"/>
                <a:cs typeface="Noto Sans KR"/>
              </a:rPr>
              <a:t>교집합 없을 때: 실패가 아니라 정보 - "조금 더 넓게 선택해보세요"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E9BC8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C2350"/>
                </a:solidFill>
                <a:latin typeface="Noto Sans KR"/>
                <a:ea typeface="Noto Sans KR"/>
                <a:cs typeface="Noto Sans KR"/>
              </a:rPr>
              <a:t>변경사항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457200" cy="50800"/>
          </a:xfrm>
          <a:prstGeom prst="rect">
            <a:avLst/>
          </a:prstGeom>
          <a:solidFill>
            <a:srgbClr val="5AD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5379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AA0BD"/>
                </a:solidFill>
                <a:latin typeface="Noto Sans KR"/>
                <a:ea typeface="Noto Sans KR"/>
                <a:cs typeface="Noto Sans KR"/>
              </a:rPr>
              <a:t>Mobv 리뉴얼 기획 발표, 팀 적토마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AA0BD"/>
                </a:solidFill>
                <a:latin typeface="Noto Sans KR"/>
                <a:ea typeface="Noto Sans KR"/>
                <a:cs typeface="Noto Sans KR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3502152" cy="4846320"/>
          </a:xfrm>
          <a:prstGeom prst="roundRect">
            <a:avLst>
              <a:gd name="adj" fmla="val 6000"/>
            </a:avLst>
          </a:prstGeom>
          <a:solidFill>
            <a:srgbClr val="F4F5F8"/>
          </a:solidFill>
          <a:ln w="12700">
            <a:solidFill>
              <a:srgbClr val="E6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600200"/>
            <a:ext cx="3502152" cy="502920"/>
          </a:xfrm>
          <a:prstGeom prst="roundRect">
            <a:avLst>
              <a:gd name="adj" fmla="val 6000"/>
            </a:avLst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00200"/>
            <a:ext cx="3502152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제거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2340864"/>
            <a:ext cx="73152" cy="73152"/>
          </a:xfrm>
          <a:prstGeom prst="ellipse">
            <a:avLst/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286000"/>
            <a:ext cx="290779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3A4170"/>
                </a:solidFill>
                <a:latin typeface="Noto Sans KR"/>
                <a:ea typeface="Noto Sans KR"/>
                <a:cs typeface="Noto Sans KR"/>
              </a:rPr>
              <a:t>카카오톡 파일 업로드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3392424"/>
            <a:ext cx="73152" cy="73152"/>
          </a:xfrm>
          <a:prstGeom prst="ellipse">
            <a:avLst/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337560"/>
            <a:ext cx="290779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3A4170"/>
                </a:solidFill>
                <a:latin typeface="Noto Sans KR"/>
                <a:ea typeface="Noto Sans KR"/>
                <a:cs typeface="Noto Sans KR"/>
              </a:rPr>
              <a:t>대화 분석, GPT-4o-mini 기반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4443984"/>
            <a:ext cx="73152" cy="73152"/>
          </a:xfrm>
          <a:prstGeom prst="ellipse">
            <a:avLst/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389120"/>
            <a:ext cx="290779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3A4170"/>
                </a:solidFill>
                <a:latin typeface="Noto Sans KR"/>
                <a:ea typeface="Noto Sans KR"/>
                <a:cs typeface="Noto Sans KR"/>
              </a:rPr>
              <a:t>친밀도 점수 기반 반경 확장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06824" y="1600200"/>
            <a:ext cx="3502152" cy="4846320"/>
          </a:xfrm>
          <a:prstGeom prst="roundRect">
            <a:avLst>
              <a:gd name="adj" fmla="val 6000"/>
            </a:avLst>
          </a:prstGeom>
          <a:solidFill>
            <a:srgbClr val="F4F5F8"/>
          </a:solidFill>
          <a:ln w="12700">
            <a:solidFill>
              <a:srgbClr val="E6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06824" y="1600200"/>
            <a:ext cx="3502152" cy="502920"/>
          </a:xfrm>
          <a:prstGeom prst="roundRect">
            <a:avLst>
              <a:gd name="adj" fmla="val 6000"/>
            </a:avLst>
          </a:prstGeom>
          <a:solidFill>
            <a:srgbClr val="2BB6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06824" y="1600200"/>
            <a:ext cx="3502152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추가</a:t>
            </a:r>
          </a:p>
        </p:txBody>
      </p:sp>
      <p:sp>
        <p:nvSpPr>
          <p:cNvPr id="19" name="Oval 18"/>
          <p:cNvSpPr/>
          <p:nvPr/>
        </p:nvSpPr>
        <p:spPr>
          <a:xfrm>
            <a:off x="4535424" y="2340864"/>
            <a:ext cx="73152" cy="73152"/>
          </a:xfrm>
          <a:prstGeom prst="ellipse">
            <a:avLst/>
          </a:prstGeom>
          <a:solidFill>
            <a:srgbClr val="2BB6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18304" y="2286000"/>
            <a:ext cx="290779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3A4170"/>
                </a:solidFill>
                <a:latin typeface="Noto Sans KR"/>
                <a:ea typeface="Noto Sans KR"/>
                <a:cs typeface="Noto Sans KR"/>
              </a:rPr>
              <a:t>날짜 조율 기능 - 다중선택 후 교집합 자동추출</a:t>
            </a:r>
          </a:p>
        </p:txBody>
      </p:sp>
      <p:sp>
        <p:nvSpPr>
          <p:cNvPr id="21" name="Oval 20"/>
          <p:cNvSpPr/>
          <p:nvPr/>
        </p:nvSpPr>
        <p:spPr>
          <a:xfrm>
            <a:off x="4535424" y="3392424"/>
            <a:ext cx="73152" cy="73152"/>
          </a:xfrm>
          <a:prstGeom prst="ellipse">
            <a:avLst/>
          </a:prstGeom>
          <a:solidFill>
            <a:srgbClr val="2BB6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18304" y="3337560"/>
            <a:ext cx="290779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3A4170"/>
                </a:solidFill>
                <a:latin typeface="Noto Sans KR"/>
                <a:ea typeface="Noto Sans KR"/>
                <a:cs typeface="Noto Sans KR"/>
              </a:rPr>
              <a:t>결과 공유 기능 - 웹 링크로 앱 없이 접근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73568" y="1600200"/>
            <a:ext cx="3502152" cy="4846320"/>
          </a:xfrm>
          <a:prstGeom prst="roundRect">
            <a:avLst>
              <a:gd name="adj" fmla="val 6000"/>
            </a:avLst>
          </a:prstGeom>
          <a:solidFill>
            <a:srgbClr val="F4F5F8"/>
          </a:solidFill>
          <a:ln w="12700">
            <a:solidFill>
              <a:srgbClr val="E6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973568" y="1600200"/>
            <a:ext cx="3502152" cy="502920"/>
          </a:xfrm>
          <a:prstGeom prst="roundRect">
            <a:avLst>
              <a:gd name="adj" fmla="val 6000"/>
            </a:avLst>
          </a:prstGeom>
          <a:solidFill>
            <a:srgbClr val="2E9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73568" y="1600200"/>
            <a:ext cx="3502152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개선</a:t>
            </a:r>
          </a:p>
        </p:txBody>
      </p:sp>
      <p:sp>
        <p:nvSpPr>
          <p:cNvPr id="26" name="Oval 25"/>
          <p:cNvSpPr/>
          <p:nvPr/>
        </p:nvSpPr>
        <p:spPr>
          <a:xfrm>
            <a:off x="8202168" y="2340864"/>
            <a:ext cx="73152" cy="73152"/>
          </a:xfrm>
          <a:prstGeom prst="ellipse">
            <a:avLst/>
          </a:prstGeom>
          <a:solidFill>
            <a:srgbClr val="2E9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85048" y="2286000"/>
            <a:ext cx="290779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3A4170"/>
                </a:solidFill>
                <a:latin typeface="Noto Sans KR"/>
                <a:ea typeface="Noto Sans KR"/>
                <a:cs typeface="Noto Sans KR"/>
              </a:rPr>
              <a:t>교집합 없을 때 → 범위 재조정 유도</a:t>
            </a:r>
          </a:p>
        </p:txBody>
      </p:sp>
      <p:sp>
        <p:nvSpPr>
          <p:cNvPr id="28" name="Oval 27"/>
          <p:cNvSpPr/>
          <p:nvPr/>
        </p:nvSpPr>
        <p:spPr>
          <a:xfrm>
            <a:off x="8202168" y="3392424"/>
            <a:ext cx="73152" cy="73152"/>
          </a:xfrm>
          <a:prstGeom prst="ellipse">
            <a:avLst/>
          </a:prstGeom>
          <a:solidFill>
            <a:srgbClr val="2E9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85048" y="3337560"/>
            <a:ext cx="290779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3A4170"/>
                </a:solidFill>
                <a:latin typeface="Noto Sans KR"/>
                <a:ea typeface="Noto Sans KR"/>
                <a:cs typeface="Noto Sans KR"/>
              </a:rPr>
              <a:t>전원 완료 시 자동 추천</a:t>
            </a:r>
          </a:p>
        </p:txBody>
      </p:sp>
      <p:sp>
        <p:nvSpPr>
          <p:cNvPr id="30" name="Oval 29"/>
          <p:cNvSpPr/>
          <p:nvPr/>
        </p:nvSpPr>
        <p:spPr>
          <a:xfrm>
            <a:off x="8202168" y="4443984"/>
            <a:ext cx="73152" cy="73152"/>
          </a:xfrm>
          <a:prstGeom prst="ellipse">
            <a:avLst/>
          </a:prstGeom>
          <a:solidFill>
            <a:srgbClr val="2E9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85048" y="4389120"/>
            <a:ext cx="290779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3A4170"/>
                </a:solidFill>
                <a:latin typeface="Noto Sans KR"/>
                <a:ea typeface="Noto Sans KR"/>
                <a:cs typeface="Noto Sans KR"/>
              </a:rPr>
              <a:t>장소 추천 API 검토, Google Places</a:t>
            </a:r>
          </a:p>
        </p:txBody>
      </p:sp>
      <p:sp>
        <p:nvSpPr>
          <p:cNvPr id="32" name="Oval 31"/>
          <p:cNvSpPr/>
          <p:nvPr/>
        </p:nvSpPr>
        <p:spPr>
          <a:xfrm>
            <a:off x="8202168" y="5495544"/>
            <a:ext cx="73152" cy="73152"/>
          </a:xfrm>
          <a:prstGeom prst="ellipse">
            <a:avLst/>
          </a:prstGeom>
          <a:solidFill>
            <a:srgbClr val="2E9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85048" y="5440680"/>
            <a:ext cx="290779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3A4170"/>
                </a:solidFill>
                <a:latin typeface="Noto Sans KR"/>
                <a:ea typeface="Noto Sans KR"/>
                <a:cs typeface="Noto Sans KR"/>
              </a:rPr>
              <a:t>지하철역 기준 검색 보완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E9BC8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C2350"/>
                </a:solidFill>
                <a:latin typeface="Noto Sans KR"/>
                <a:ea typeface="Noto Sans KR"/>
                <a:cs typeface="Noto Sans KR"/>
              </a:rPr>
              <a:t>사용자 플로우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457200" cy="50800"/>
          </a:xfrm>
          <a:prstGeom prst="rect">
            <a:avLst/>
          </a:prstGeom>
          <a:solidFill>
            <a:srgbClr val="5AD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5379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AA0BD"/>
                </a:solidFill>
                <a:latin typeface="Noto Sans KR"/>
                <a:ea typeface="Noto Sans KR"/>
                <a:cs typeface="Noto Sans KR"/>
              </a:rPr>
              <a:t>Mobv 리뉴얼 기획 발표, 팀 적토마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AA0BD"/>
                </a:solidFill>
                <a:latin typeface="Noto Sans KR"/>
                <a:ea typeface="Noto Sans KR"/>
                <a:cs typeface="Noto Sans KR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3A4170"/>
                </a:solidFill>
                <a:latin typeface="Noto Sans KR"/>
                <a:ea typeface="Noto Sans KR"/>
                <a:cs typeface="Noto Sans KR"/>
              </a:rPr>
              <a:t>날짜 조율과 원 그리기는 서로 독립적 - 순서 무관, 동시 접속 불필요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20240"/>
            <a:ext cx="3502152" cy="1051560"/>
          </a:xfrm>
          <a:prstGeom prst="roundRect">
            <a:avLst>
              <a:gd name="adj" fmla="val 10000"/>
            </a:avLst>
          </a:prstGeom>
          <a:solidFill>
            <a:srgbClr val="F4F5F8"/>
          </a:solidFill>
          <a:ln w="12700">
            <a:solidFill>
              <a:srgbClr val="E6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04672" y="2084832"/>
            <a:ext cx="310896" cy="310896"/>
          </a:xfrm>
          <a:prstGeom prst="ellipse">
            <a:avLst/>
          </a:prstGeom>
          <a:solidFill>
            <a:srgbClr val="586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08483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8" y="2048256"/>
            <a:ext cx="27706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865F2"/>
                </a:solidFill>
                <a:latin typeface="Noto Sans KR"/>
                <a:ea typeface="Noto Sans KR"/>
                <a:cs typeface="Noto Sans KR"/>
              </a:rPr>
              <a:t>STEP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450592"/>
            <a:ext cx="31729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A4170"/>
                </a:solidFill>
                <a:latin typeface="Noto Sans KR"/>
                <a:ea typeface="Noto Sans KR"/>
                <a:cs typeface="Noto Sans KR"/>
              </a:rPr>
              <a:t>방 만들기, 카테고리 선택, 멤버 2~5명 초대 - 3~4명일 때 가장 원활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06824" y="1920240"/>
            <a:ext cx="3502152" cy="1051560"/>
          </a:xfrm>
          <a:prstGeom prst="roundRect">
            <a:avLst>
              <a:gd name="adj" fmla="val 10000"/>
            </a:avLst>
          </a:prstGeom>
          <a:solidFill>
            <a:srgbClr val="F4F5F8"/>
          </a:solidFill>
          <a:ln w="12700">
            <a:solidFill>
              <a:srgbClr val="E6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471416" y="2084832"/>
            <a:ext cx="310896" cy="310896"/>
          </a:xfrm>
          <a:prstGeom prst="ellipse">
            <a:avLst/>
          </a:prstGeom>
          <a:solidFill>
            <a:srgbClr val="586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71416" y="208483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73752" y="2048256"/>
            <a:ext cx="27706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865F2"/>
                </a:solidFill>
                <a:latin typeface="Noto Sans KR"/>
                <a:ea typeface="Noto Sans KR"/>
                <a:cs typeface="Noto Sans KR"/>
              </a:rPr>
              <a:t>STEP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71416" y="2450592"/>
            <a:ext cx="31729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A4170"/>
                </a:solidFill>
                <a:latin typeface="Noto Sans KR"/>
                <a:ea typeface="Noto Sans KR"/>
                <a:cs typeface="Noto Sans KR"/>
              </a:rPr>
              <a:t>각자 날짜와 시간대 선택과 선호 범위 원 그리기, 순서 자유로운 비동기 진행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73568" y="1920240"/>
            <a:ext cx="3502152" cy="1051560"/>
          </a:xfrm>
          <a:prstGeom prst="roundRect">
            <a:avLst>
              <a:gd name="adj" fmla="val 10000"/>
            </a:avLst>
          </a:prstGeom>
          <a:solidFill>
            <a:srgbClr val="F4F5F8"/>
          </a:solidFill>
          <a:ln w="12700">
            <a:solidFill>
              <a:srgbClr val="E6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138160" y="2084832"/>
            <a:ext cx="310896" cy="310896"/>
          </a:xfrm>
          <a:prstGeom prst="ellipse">
            <a:avLst/>
          </a:prstGeom>
          <a:solidFill>
            <a:srgbClr val="586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0" y="208483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0496" y="2048256"/>
            <a:ext cx="27706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865F2"/>
                </a:solidFill>
                <a:latin typeface="Noto Sans KR"/>
                <a:ea typeface="Noto Sans KR"/>
                <a:cs typeface="Noto Sans KR"/>
              </a:rPr>
              <a:t>STEP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2450592"/>
            <a:ext cx="31729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A4170"/>
                </a:solidFill>
                <a:latin typeface="Noto Sans KR"/>
                <a:ea typeface="Noto Sans KR"/>
                <a:cs typeface="Noto Sans KR"/>
              </a:rPr>
              <a:t>날짜 전원 입력 완료 → 방장이 최종 날짜 확정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154680"/>
            <a:ext cx="3502152" cy="1051560"/>
          </a:xfrm>
          <a:prstGeom prst="roundRect">
            <a:avLst>
              <a:gd name="adj" fmla="val 10000"/>
            </a:avLst>
          </a:prstGeom>
          <a:solidFill>
            <a:srgbClr val="F4F5F8"/>
          </a:solidFill>
          <a:ln w="12700">
            <a:solidFill>
              <a:srgbClr val="E6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04672" y="3319272"/>
            <a:ext cx="310896" cy="310896"/>
          </a:xfrm>
          <a:prstGeom prst="ellipse">
            <a:avLst/>
          </a:prstGeom>
          <a:solidFill>
            <a:srgbClr val="586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" y="331927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07008" y="3282696"/>
            <a:ext cx="27706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865F2"/>
                </a:solidFill>
                <a:latin typeface="Noto Sans KR"/>
                <a:ea typeface="Noto Sans KR"/>
                <a:cs typeface="Noto Sans KR"/>
              </a:rPr>
              <a:t>STEP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" y="3685032"/>
            <a:ext cx="31729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A4170"/>
                </a:solidFill>
                <a:latin typeface="Noto Sans KR"/>
                <a:ea typeface="Noto Sans KR"/>
                <a:cs typeface="Noto Sans KR"/>
              </a:rPr>
              <a:t>원 전원 입력 완료 → 장소 10개 자동 추천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06824" y="3154680"/>
            <a:ext cx="3502152" cy="1051560"/>
          </a:xfrm>
          <a:prstGeom prst="roundRect">
            <a:avLst>
              <a:gd name="adj" fmla="val 10000"/>
            </a:avLst>
          </a:prstGeom>
          <a:solidFill>
            <a:srgbClr val="F4F5F8"/>
          </a:solidFill>
          <a:ln w="12700">
            <a:solidFill>
              <a:srgbClr val="E6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471416" y="3319272"/>
            <a:ext cx="310896" cy="310896"/>
          </a:xfrm>
          <a:prstGeom prst="ellipse">
            <a:avLst/>
          </a:prstGeom>
          <a:solidFill>
            <a:srgbClr val="586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71416" y="331927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73752" y="3282696"/>
            <a:ext cx="27706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865F2"/>
                </a:solidFill>
                <a:latin typeface="Noto Sans KR"/>
                <a:ea typeface="Noto Sans KR"/>
                <a:cs typeface="Noto Sans KR"/>
              </a:rPr>
              <a:t>STEP 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71416" y="3685032"/>
            <a:ext cx="31729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A4170"/>
                </a:solidFill>
                <a:latin typeface="Noto Sans KR"/>
                <a:ea typeface="Noto Sans KR"/>
                <a:cs typeface="Noto Sans KR"/>
              </a:rPr>
              <a:t>결과 웹 링크 공유, 카카오톡 등으로 바로 전달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3154680"/>
            <a:ext cx="3502152" cy="1051560"/>
          </a:xfrm>
          <a:prstGeom prst="roundRect">
            <a:avLst>
              <a:gd name="adj" fmla="val 10000"/>
            </a:avLst>
          </a:prstGeom>
          <a:solidFill>
            <a:srgbClr val="F4F5F8"/>
          </a:solidFill>
          <a:ln w="12700">
            <a:solidFill>
              <a:srgbClr val="E6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138160" y="3319272"/>
            <a:ext cx="310896" cy="310896"/>
          </a:xfrm>
          <a:prstGeom prst="ellipse">
            <a:avLst/>
          </a:prstGeom>
          <a:solidFill>
            <a:srgbClr val="586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38160" y="331927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40496" y="3282696"/>
            <a:ext cx="27706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865F2"/>
                </a:solidFill>
                <a:latin typeface="Noto Sans KR"/>
                <a:ea typeface="Noto Sans KR"/>
                <a:cs typeface="Noto Sans KR"/>
              </a:rPr>
              <a:t>STEP 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38160" y="3685032"/>
            <a:ext cx="31729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A4170"/>
                </a:solidFill>
                <a:latin typeface="Noto Sans KR"/>
                <a:ea typeface="Noto Sans KR"/>
                <a:cs typeface="Noto Sans KR"/>
              </a:rPr>
              <a:t>장소 확정 → 히스토리 저장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452628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C2350"/>
                </a:solidFill>
                <a:latin typeface="Noto Sans KR"/>
                <a:ea typeface="Noto Sans KR"/>
                <a:cs typeface="Noto Sans KR"/>
              </a:rPr>
              <a:t>Firestore 구조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4873752"/>
            <a:ext cx="10881360" cy="777240"/>
          </a:xfrm>
          <a:prstGeom prst="roundRect">
            <a:avLst>
              <a:gd name="adj" fmla="val 8000"/>
            </a:avLst>
          </a:prstGeom>
          <a:solidFill>
            <a:srgbClr val="1C2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4873752"/>
            <a:ext cx="103327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7CFF5"/>
                </a:solidFill>
                <a:latin typeface="Noto Sans KR"/>
                <a:ea typeface="Noto Sans KR"/>
                <a:cs typeface="Noto Sans KR"/>
              </a:rPr>
              <a:t>rooms(roomId), members(uid), availabilities(uid, 날짜/시간대), circles(uid, 선호 범위 원)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E9BC8"/>
                </a:solidFill>
                <a:latin typeface="Noto Sans KR"/>
                <a:ea typeface="Noto Sans KR"/>
                <a:cs typeface="Noto Sans KR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C2350"/>
                </a:solidFill>
                <a:latin typeface="Noto Sans KR"/>
                <a:ea typeface="Noto Sans KR"/>
                <a:cs typeface="Noto Sans KR"/>
              </a:rPr>
              <a:t>개발 일정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457200" cy="50800"/>
          </a:xfrm>
          <a:prstGeom prst="rect">
            <a:avLst/>
          </a:prstGeom>
          <a:solidFill>
            <a:srgbClr val="5AD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5379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AA0BD"/>
                </a:solidFill>
                <a:latin typeface="Noto Sans KR"/>
                <a:ea typeface="Noto Sans KR"/>
                <a:cs typeface="Noto Sans KR"/>
              </a:rPr>
              <a:t>Mobv 리뉴얼 기획 발표, 팀 적토마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AA0BD"/>
                </a:solidFill>
                <a:latin typeface="Noto Sans KR"/>
                <a:ea typeface="Noto Sans KR"/>
                <a:cs typeface="Noto Sans KR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3657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5865F2"/>
                </a:solidFill>
                <a:latin typeface="Noto Sans KR"/>
                <a:ea typeface="Noto Sans KR"/>
                <a:cs typeface="Noto Sans KR"/>
              </a:rPr>
              <a:t>총 6~8주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402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9AA0BD"/>
                </a:solidFill>
                <a:latin typeface="Noto Sans KR"/>
                <a:ea typeface="Noto Sans KR"/>
                <a:cs typeface="Noto Sans KR"/>
              </a:rPr>
              <a:t>TOTAL DEVELOPMENT PERIOD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788920"/>
            <a:ext cx="10881360" cy="777240"/>
          </a:xfrm>
          <a:prstGeom prst="roundRect">
            <a:avLst>
              <a:gd name="adj" fmla="val 8000"/>
            </a:avLst>
          </a:prstGeom>
          <a:solidFill>
            <a:srgbClr val="F4F5F8"/>
          </a:solidFill>
          <a:ln w="12700">
            <a:solidFill>
              <a:srgbClr val="E6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788920"/>
            <a:ext cx="10058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5865F2"/>
                </a:solidFill>
                <a:latin typeface="Noto Sans KR"/>
                <a:ea typeface="Noto Sans KR"/>
                <a:cs typeface="Noto Sans KR"/>
              </a:rPr>
              <a:t>1단계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788920"/>
            <a:ext cx="72237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A4170"/>
                </a:solidFill>
                <a:latin typeface="Noto Sans KR"/>
                <a:ea typeface="Noto Sans KR"/>
                <a:cs typeface="Noto Sans KR"/>
              </a:rPr>
              <a:t>카카오톡 코드 제거, Google Places 프로토타입 검증 10개 지역, 교집합 없을 때 처리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81160" y="2788920"/>
            <a:ext cx="8686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9AA0BD"/>
                </a:solidFill>
                <a:latin typeface="Noto Sans KR"/>
                <a:ea typeface="Noto Sans KR"/>
                <a:cs typeface="Noto Sans KR"/>
              </a:rPr>
              <a:t>백엔드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95560" y="2788920"/>
            <a:ext cx="12344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2E9BC8"/>
                </a:solidFill>
                <a:latin typeface="Noto Sans KR"/>
                <a:ea typeface="Noto Sans KR"/>
                <a:cs typeface="Noto Sans KR"/>
              </a:rPr>
              <a:t>1~2주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703320"/>
            <a:ext cx="10881360" cy="777240"/>
          </a:xfrm>
          <a:prstGeom prst="roundRect">
            <a:avLst>
              <a:gd name="adj" fmla="val 8000"/>
            </a:avLst>
          </a:prstGeom>
          <a:solidFill>
            <a:srgbClr val="F4F5F8"/>
          </a:solidFill>
          <a:ln w="12700">
            <a:solidFill>
              <a:srgbClr val="E6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703320"/>
            <a:ext cx="10058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5865F2"/>
                </a:solidFill>
                <a:latin typeface="Noto Sans KR"/>
                <a:ea typeface="Noto Sans KR"/>
                <a:cs typeface="Noto Sans KR"/>
              </a:rPr>
              <a:t>2단계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65960" y="3703320"/>
            <a:ext cx="72237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A4170"/>
                </a:solidFill>
                <a:latin typeface="Noto Sans KR"/>
                <a:ea typeface="Noto Sans KR"/>
                <a:cs typeface="Noto Sans KR"/>
              </a:rPr>
              <a:t>날짜 조율 기능 - Firestore 설계, UI, 방장 확정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81160" y="3703320"/>
            <a:ext cx="8686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9AA0BD"/>
                </a:solidFill>
                <a:latin typeface="Noto Sans KR"/>
                <a:ea typeface="Noto Sans KR"/>
                <a:cs typeface="Noto Sans KR"/>
              </a:rPr>
              <a:t>풀스택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95560" y="3703320"/>
            <a:ext cx="12344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2E9BC8"/>
                </a:solidFill>
                <a:latin typeface="Noto Sans KR"/>
                <a:ea typeface="Noto Sans KR"/>
                <a:cs typeface="Noto Sans KR"/>
              </a:rPr>
              <a:t>2~3주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617720"/>
            <a:ext cx="10881360" cy="777240"/>
          </a:xfrm>
          <a:prstGeom prst="roundRect">
            <a:avLst>
              <a:gd name="adj" fmla="val 8000"/>
            </a:avLst>
          </a:prstGeom>
          <a:solidFill>
            <a:srgbClr val="F4F5F8"/>
          </a:solidFill>
          <a:ln w="12700">
            <a:solidFill>
              <a:srgbClr val="E6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617720"/>
            <a:ext cx="10058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5865F2"/>
                </a:solidFill>
                <a:latin typeface="Noto Sans KR"/>
                <a:ea typeface="Noto Sans KR"/>
                <a:cs typeface="Noto Sans KR"/>
              </a:rPr>
              <a:t>3단계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4617720"/>
            <a:ext cx="72237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A4170"/>
                </a:solidFill>
                <a:latin typeface="Noto Sans KR"/>
                <a:ea typeface="Noto Sans KR"/>
                <a:cs typeface="Noto Sans KR"/>
              </a:rPr>
              <a:t>전원 완료 자동 추천 / 결과 웹 링크 / 장소 카드 UI 개선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60" y="4617720"/>
            <a:ext cx="8686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9AA0BD"/>
                </a:solidFill>
                <a:latin typeface="Noto Sans KR"/>
                <a:ea typeface="Noto Sans KR"/>
                <a:cs typeface="Noto Sans KR"/>
              </a:rPr>
              <a:t>풀스택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95560" y="4617720"/>
            <a:ext cx="12344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2E9BC8"/>
                </a:solidFill>
                <a:latin typeface="Noto Sans KR"/>
                <a:ea typeface="Noto Sans KR"/>
                <a:cs typeface="Noto Sans KR"/>
              </a:rPr>
              <a:t>1~2주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532120"/>
            <a:ext cx="10881360" cy="777240"/>
          </a:xfrm>
          <a:prstGeom prst="roundRect">
            <a:avLst>
              <a:gd name="adj" fmla="val 8000"/>
            </a:avLst>
          </a:prstGeom>
          <a:solidFill>
            <a:srgbClr val="F4F5F8"/>
          </a:solidFill>
          <a:ln w="12700">
            <a:solidFill>
              <a:srgbClr val="E6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532120"/>
            <a:ext cx="10058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5865F2"/>
                </a:solidFill>
                <a:latin typeface="Noto Sans KR"/>
                <a:ea typeface="Noto Sans KR"/>
                <a:cs typeface="Noto Sans KR"/>
              </a:rPr>
              <a:t>4단계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65960" y="5532120"/>
            <a:ext cx="72237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A4170"/>
                </a:solidFill>
                <a:latin typeface="Noto Sans KR"/>
                <a:ea typeface="Noto Sans KR"/>
                <a:cs typeface="Noto Sans KR"/>
              </a:rPr>
              <a:t>브랜딩 / 개인정보처리방침 / AAB 빌드 / 플레이스토어 등록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81160" y="5532120"/>
            <a:ext cx="8686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9AA0BD"/>
                </a:solidFill>
                <a:latin typeface="Noto Sans KR"/>
                <a:ea typeface="Noto Sans KR"/>
                <a:cs typeface="Noto Sans KR"/>
              </a:rPr>
              <a:t>공통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95560" y="5532120"/>
            <a:ext cx="12344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2E9BC8"/>
                </a:solidFill>
                <a:latin typeface="Noto Sans KR"/>
                <a:ea typeface="Noto Sans KR"/>
                <a:cs typeface="Noto Sans KR"/>
              </a:rPr>
              <a:t>1~2주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E9BC8"/>
                </a:solidFill>
                <a:latin typeface="Noto Sans KR"/>
                <a:ea typeface="Noto Sans KR"/>
                <a:cs typeface="Noto Sans KR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C2350"/>
                </a:solidFill>
                <a:latin typeface="Noto Sans KR"/>
                <a:ea typeface="Noto Sans KR"/>
                <a:cs typeface="Noto Sans KR"/>
              </a:rPr>
              <a:t>예상 비용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457200" cy="50800"/>
          </a:xfrm>
          <a:prstGeom prst="rect">
            <a:avLst/>
          </a:prstGeom>
          <a:solidFill>
            <a:srgbClr val="5AD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5379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AA0BD"/>
                </a:solidFill>
                <a:latin typeface="Noto Sans KR"/>
                <a:ea typeface="Noto Sans KR"/>
                <a:cs typeface="Noto Sans KR"/>
              </a:rPr>
              <a:t>Mobv 리뉴얼 기획 발표, 팀 적토마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AA0BD"/>
                </a:solidFill>
                <a:latin typeface="Noto Sans KR"/>
                <a:ea typeface="Noto Sans KR"/>
                <a:cs typeface="Noto Sans KR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011680"/>
            <a:ext cx="5349240" cy="2743200"/>
          </a:xfrm>
          <a:prstGeom prst="roundRect">
            <a:avLst>
              <a:gd name="adj" fmla="val 8000"/>
            </a:avLst>
          </a:prstGeom>
          <a:solidFill>
            <a:srgbClr val="F4F5F8"/>
          </a:solidFill>
          <a:ln w="12700">
            <a:solidFill>
              <a:srgbClr val="E6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331720"/>
            <a:ext cx="4709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9AA0BD"/>
                </a:solidFill>
                <a:latin typeface="Noto Sans KR"/>
                <a:ea typeface="Noto Sans KR"/>
                <a:cs typeface="Noto Sans KR"/>
              </a:rPr>
              <a:t>초기 1회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834640"/>
            <a:ext cx="4709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5865F2"/>
                </a:solidFill>
                <a:latin typeface="Noto Sans KR"/>
                <a:ea typeface="Noto Sans KR"/>
                <a:cs typeface="Noto Sans KR"/>
              </a:rPr>
              <a:t>약 3.5만원 + 도메인비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840480"/>
            <a:ext cx="4709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3A4170"/>
                </a:solidFill>
                <a:latin typeface="Noto Sans KR"/>
                <a:ea typeface="Noto Sans KR"/>
                <a:cs typeface="Noto Sans KR"/>
              </a:rPr>
              <a:t>구글 플레이 개발자 계정과 도메인 kr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011680"/>
            <a:ext cx="5349240" cy="2743200"/>
          </a:xfrm>
          <a:prstGeom prst="roundRect">
            <a:avLst>
              <a:gd name="adj" fmla="val 8000"/>
            </a:avLst>
          </a:prstGeom>
          <a:solidFill>
            <a:srgbClr val="F4F5F8"/>
          </a:solidFill>
          <a:ln w="12700">
            <a:solidFill>
              <a:srgbClr val="E6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331720"/>
            <a:ext cx="4709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9AA0BD"/>
                </a:solidFill>
                <a:latin typeface="Noto Sans KR"/>
                <a:ea typeface="Noto Sans KR"/>
                <a:cs typeface="Noto Sans KR"/>
              </a:rPr>
              <a:t>월 운영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834640"/>
            <a:ext cx="4709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5865F2"/>
                </a:solidFill>
                <a:latin typeface="Noto Sans KR"/>
                <a:ea typeface="Noto Sans KR"/>
                <a:cs typeface="Noto Sans KR"/>
              </a:rPr>
              <a:t>수천 원 ~ 수만 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840480"/>
            <a:ext cx="4709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3A4170"/>
                </a:solidFill>
                <a:latin typeface="Noto Sans KR"/>
                <a:ea typeface="Noto Sans KR"/>
                <a:cs typeface="Noto Sans KR"/>
              </a:rPr>
              <a:t>Railway, Firebase, Google Places - 500명 미만 기준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E9BC8"/>
                </a:solidFill>
                <a:latin typeface="Noto Sans KR"/>
                <a:ea typeface="Noto Sans KR"/>
                <a:cs typeface="Noto Sans KR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C2350"/>
                </a:solidFill>
                <a:latin typeface="Noto Sans KR"/>
                <a:ea typeface="Noto Sans KR"/>
                <a:cs typeface="Noto Sans KR"/>
              </a:rPr>
              <a:t>보안 체크리스트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457200" cy="50800"/>
          </a:xfrm>
          <a:prstGeom prst="rect">
            <a:avLst/>
          </a:prstGeom>
          <a:solidFill>
            <a:srgbClr val="5AD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5379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AA0BD"/>
                </a:solidFill>
                <a:latin typeface="Noto Sans KR"/>
                <a:ea typeface="Noto Sans KR"/>
                <a:cs typeface="Noto Sans KR"/>
              </a:rPr>
              <a:t>Mobv 리뉴얼 기획 발표, 팀 적토마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AA0BD"/>
                </a:solidFill>
                <a:latin typeface="Noto Sans KR"/>
                <a:ea typeface="Noto Sans KR"/>
                <a:cs typeface="Noto Sans KR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3A4170"/>
                </a:solidFill>
                <a:latin typeface="Noto Sans KR"/>
                <a:ea typeface="Noto Sans KR"/>
                <a:cs typeface="Noto Sans KR"/>
              </a:rPr>
              <a:t>Firestore Rules가 최우선 - Rules가 비어 있으면 어떤 로그인 방식을 쓰든 보안적으로 의미 없음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65960"/>
            <a:ext cx="6492240" cy="4434840"/>
          </a:xfrm>
          <a:prstGeom prst="roundRect">
            <a:avLst>
              <a:gd name="adj" fmla="val 6000"/>
            </a:avLst>
          </a:prstGeom>
          <a:solidFill>
            <a:srgbClr val="F4F5F8"/>
          </a:solidFill>
          <a:ln w="12700">
            <a:solidFill>
              <a:srgbClr val="E6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965960"/>
            <a:ext cx="6492240" cy="502920"/>
          </a:xfrm>
          <a:prstGeom prst="roundRect">
            <a:avLst>
              <a:gd name="adj" fmla="val 6000"/>
            </a:avLst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65960"/>
            <a:ext cx="64922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P0, 출시 전 필수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2752344"/>
            <a:ext cx="82296" cy="82296"/>
          </a:xfrm>
          <a:prstGeom prst="ellipse">
            <a:avLst/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2697480"/>
            <a:ext cx="58064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3A4170"/>
                </a:solidFill>
                <a:latin typeface="Noto Sans KR"/>
                <a:ea typeface="Noto Sans KR"/>
                <a:cs typeface="Noto Sans KR"/>
              </a:rPr>
              <a:t>Firestore Security Rules - 본인 데이터만 읽기/쓰기 가능하도록 설정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3529584"/>
            <a:ext cx="82296" cy="82296"/>
          </a:xfrm>
          <a:prstGeom prst="ellipse">
            <a:avLst/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3474720"/>
            <a:ext cx="58064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3A4170"/>
                </a:solidFill>
                <a:latin typeface="Noto Sans KR"/>
                <a:ea typeface="Noto Sans KR"/>
                <a:cs typeface="Noto Sans KR"/>
              </a:rPr>
              <a:t>Firebase Auth - Google 로그인 기반 인증 적용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306824"/>
            <a:ext cx="82296" cy="82296"/>
          </a:xfrm>
          <a:prstGeom prst="ellipse">
            <a:avLst/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5568" y="4251960"/>
            <a:ext cx="58064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3A4170"/>
                </a:solidFill>
                <a:latin typeface="Noto Sans KR"/>
                <a:ea typeface="Noto Sans KR"/>
                <a:cs typeface="Noto Sans KR"/>
              </a:rPr>
              <a:t>계정 삭제 기능 - 플레이스토어 심사 확인 항목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5084064"/>
            <a:ext cx="82296" cy="82296"/>
          </a:xfrm>
          <a:prstGeom prst="ellipse">
            <a:avLst/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5568" y="5029200"/>
            <a:ext cx="58064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3A4170"/>
                </a:solidFill>
                <a:latin typeface="Noto Sans KR"/>
                <a:ea typeface="Noto Sans KR"/>
                <a:cs typeface="Noto Sans KR"/>
              </a:rPr>
              <a:t>개인정보처리방침 - 수집 항목, 목적, 제3자 제공 범위 명시</a:t>
            </a:r>
          </a:p>
        </p:txBody>
      </p:sp>
      <p:sp>
        <p:nvSpPr>
          <p:cNvPr id="19" name="Oval 18"/>
          <p:cNvSpPr/>
          <p:nvPr/>
        </p:nvSpPr>
        <p:spPr>
          <a:xfrm>
            <a:off x="914400" y="5861304"/>
            <a:ext cx="82296" cy="82296"/>
          </a:xfrm>
          <a:prstGeom prst="ellipse">
            <a:avLst/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15568" y="5806440"/>
            <a:ext cx="58064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3A4170"/>
                </a:solidFill>
                <a:latin typeface="Noto Sans KR"/>
                <a:ea typeface="Noto Sans KR"/>
                <a:cs typeface="Noto Sans KR"/>
              </a:rPr>
              <a:t>백엔드 토큰 검증 - Flask API에 Firebase ID Token 검증 추가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0" y="1965960"/>
            <a:ext cx="4206240" cy="4434840"/>
          </a:xfrm>
          <a:prstGeom prst="roundRect">
            <a:avLst>
              <a:gd name="adj" fmla="val 6000"/>
            </a:avLst>
          </a:prstGeom>
          <a:solidFill>
            <a:srgbClr val="F4F5F8"/>
          </a:solidFill>
          <a:ln w="12700">
            <a:solidFill>
              <a:srgbClr val="E6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315200" y="1965960"/>
            <a:ext cx="4206240" cy="502920"/>
          </a:xfrm>
          <a:prstGeom prst="roundRect">
            <a:avLst>
              <a:gd name="adj" fmla="val 6000"/>
            </a:avLst>
          </a:prstGeom>
          <a:solidFill>
            <a:srgbClr val="9AA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0" y="1965960"/>
            <a:ext cx="42062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P1, 권장</a:t>
            </a:r>
          </a:p>
        </p:txBody>
      </p:sp>
      <p:sp>
        <p:nvSpPr>
          <p:cNvPr id="24" name="Oval 23"/>
          <p:cNvSpPr/>
          <p:nvPr/>
        </p:nvSpPr>
        <p:spPr>
          <a:xfrm>
            <a:off x="7589520" y="2752344"/>
            <a:ext cx="82296" cy="82296"/>
          </a:xfrm>
          <a:prstGeom prst="ellipse">
            <a:avLst/>
          </a:prstGeom>
          <a:solidFill>
            <a:srgbClr val="9AA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90688" y="2697480"/>
            <a:ext cx="3566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3A4170"/>
                </a:solidFill>
                <a:latin typeface="Noto Sans KR"/>
                <a:ea typeface="Noto Sans KR"/>
                <a:cs typeface="Noto Sans KR"/>
              </a:rPr>
              <a:t>Firebase App Check - 봇 차단</a:t>
            </a:r>
          </a:p>
        </p:txBody>
      </p:sp>
      <p:sp>
        <p:nvSpPr>
          <p:cNvPr id="26" name="Oval 25"/>
          <p:cNvSpPr/>
          <p:nvPr/>
        </p:nvSpPr>
        <p:spPr>
          <a:xfrm>
            <a:off x="7589520" y="3346704"/>
            <a:ext cx="82296" cy="82296"/>
          </a:xfrm>
          <a:prstGeom prst="ellipse">
            <a:avLst/>
          </a:prstGeom>
          <a:solidFill>
            <a:srgbClr val="9AA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90688" y="3291840"/>
            <a:ext cx="3566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3A4170"/>
                </a:solidFill>
                <a:latin typeface="Noto Sans KR"/>
                <a:ea typeface="Noto Sans KR"/>
                <a:cs typeface="Noto Sans KR"/>
              </a:rPr>
              <a:t>Rate Limit - API 호출 제한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E9BC8"/>
                </a:solidFill>
                <a:latin typeface="Noto Sans KR"/>
                <a:ea typeface="Noto Sans KR"/>
                <a:cs typeface="Noto Sans KR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C2350"/>
                </a:solidFill>
                <a:latin typeface="Noto Sans KR"/>
                <a:ea typeface="Noto Sans KR"/>
                <a:cs typeface="Noto Sans KR"/>
              </a:rPr>
              <a:t>출시 전략 - 웹은 전 플랫폼, 네이티브 앱은 Android 우선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457200" cy="50800"/>
          </a:xfrm>
          <a:prstGeom prst="rect">
            <a:avLst/>
          </a:prstGeom>
          <a:solidFill>
            <a:srgbClr val="5AD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5379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AA0BD"/>
                </a:solidFill>
                <a:latin typeface="Noto Sans KR"/>
                <a:ea typeface="Noto Sans KR"/>
                <a:cs typeface="Noto Sans KR"/>
              </a:rPr>
              <a:t>Mobv 리뉴얼 기획 발표, 팀 적토마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AA0BD"/>
                </a:solidFill>
                <a:latin typeface="Noto Sans KR"/>
                <a:ea typeface="Noto Sans KR"/>
                <a:cs typeface="Noto Sans KR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9AA0BD"/>
                </a:solidFill>
                <a:latin typeface="Noto Sans KR"/>
                <a:ea typeface="Noto Sans KR"/>
                <a:cs typeface="Noto Sans KR"/>
              </a:rPr>
              <a:t>접근 방식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150876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9AA0BD"/>
                </a:solidFill>
                <a:latin typeface="Noto Sans KR"/>
                <a:ea typeface="Noto Sans KR"/>
                <a:cs typeface="Noto Sans KR"/>
              </a:rPr>
              <a:t>대상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150876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9AA0BD"/>
                </a:solidFill>
                <a:latin typeface="Noto Sans KR"/>
                <a:ea typeface="Noto Sans KR"/>
                <a:cs typeface="Noto Sans KR"/>
              </a:rPr>
              <a:t>시점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810512"/>
            <a:ext cx="10881360" cy="19050"/>
          </a:xfrm>
          <a:prstGeom prst="rect">
            <a:avLst/>
          </a:prstGeom>
          <a:solidFill>
            <a:srgbClr val="E6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1938528"/>
            <a:ext cx="10881360" cy="502920"/>
          </a:xfrm>
          <a:prstGeom prst="roundRect">
            <a:avLst>
              <a:gd name="adj" fmla="val 6000"/>
            </a:avLst>
          </a:prstGeom>
          <a:solidFill>
            <a:srgbClr val="EE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938528"/>
            <a:ext cx="42062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865F2"/>
                </a:solidFill>
                <a:latin typeface="Noto Sans KR"/>
                <a:ea typeface="Noto Sans KR"/>
                <a:cs typeface="Noto Sans KR"/>
              </a:rPr>
              <a:t>웹, Railway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1938528"/>
            <a:ext cx="35661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3A4170"/>
                </a:solidFill>
                <a:latin typeface="Noto Sans KR"/>
                <a:ea typeface="Noto Sans KR"/>
                <a:cs typeface="Noto Sans KR"/>
              </a:rPr>
              <a:t>Android/iOS 브라우저 전체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1938528"/>
            <a:ext cx="31089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BB673"/>
                </a:solidFill>
                <a:latin typeface="Noto Sans KR"/>
                <a:ea typeface="Noto Sans KR"/>
                <a:cs typeface="Noto Sans KR"/>
              </a:rPr>
              <a:t>출시 즉시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514600"/>
            <a:ext cx="42062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C2350"/>
                </a:solidFill>
                <a:latin typeface="Noto Sans KR"/>
                <a:ea typeface="Noto Sans KR"/>
                <a:cs typeface="Noto Sans KR"/>
              </a:rPr>
              <a:t>네이티브 앱, Play Store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2514600"/>
            <a:ext cx="35661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3A4170"/>
                </a:solidFill>
                <a:latin typeface="Noto Sans KR"/>
                <a:ea typeface="Noto Sans KR"/>
                <a:cs typeface="Noto Sans KR"/>
              </a:rPr>
              <a:t>Android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514600"/>
            <a:ext cx="31089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9AA0BD"/>
                </a:solidFill>
                <a:latin typeface="Noto Sans KR"/>
                <a:ea typeface="Noto Sans KR"/>
                <a:cs typeface="Noto Sans KR"/>
              </a:rPr>
              <a:t>1차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090672"/>
            <a:ext cx="42062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C2350"/>
                </a:solidFill>
                <a:latin typeface="Noto Sans KR"/>
                <a:ea typeface="Noto Sans KR"/>
                <a:cs typeface="Noto Sans KR"/>
              </a:rPr>
              <a:t>네이티브 앱, App Store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3090672"/>
            <a:ext cx="35661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3A4170"/>
                </a:solidFill>
                <a:latin typeface="Noto Sans KR"/>
                <a:ea typeface="Noto Sans KR"/>
                <a:cs typeface="Noto Sans KR"/>
              </a:rPr>
              <a:t>iOS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3090672"/>
            <a:ext cx="31089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9AA0BD"/>
                </a:solidFill>
                <a:latin typeface="Noto Sans KR"/>
                <a:ea typeface="Noto Sans KR"/>
                <a:cs typeface="Noto Sans KR"/>
              </a:rPr>
              <a:t>2차, Android 안정화 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520440"/>
            <a:ext cx="5212080" cy="2606040"/>
          </a:xfrm>
          <a:prstGeom prst="roundRect">
            <a:avLst>
              <a:gd name="adj" fmla="val 6000"/>
            </a:avLst>
          </a:prstGeom>
          <a:solidFill>
            <a:srgbClr val="EEF0FE"/>
          </a:solidFill>
          <a:ln w="15875">
            <a:solidFill>
              <a:srgbClr val="5865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374904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5865F2"/>
                </a:solidFill>
                <a:latin typeface="Noto Sans KR"/>
                <a:ea typeface="Noto Sans KR"/>
                <a:cs typeface="Noto Sans KR"/>
              </a:rPr>
              <a:t>네이티브 앱 1차, Android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251960"/>
            <a:ext cx="46634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3A4170"/>
                </a:solidFill>
                <a:latin typeface="Noto Sans KR"/>
                <a:ea typeface="Noto Sans KR"/>
                <a:cs typeface="Noto Sans KR"/>
              </a:rPr>
              <a:t>개발자 계정 1회 $25, 심사 1~3일</a:t>
            </a:r>
          </a:p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3A4170"/>
                </a:solidFill>
                <a:latin typeface="Noto Sans KR"/>
                <a:ea typeface="Noto Sans KR"/>
                <a:cs typeface="Noto Sans KR"/>
              </a:rPr>
              <a:t>출시 후 사용자 반응과 버그 확인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3520440"/>
            <a:ext cx="5212080" cy="2606040"/>
          </a:xfrm>
          <a:prstGeom prst="roundRect">
            <a:avLst>
              <a:gd name="adj" fmla="val 6000"/>
            </a:avLst>
          </a:prstGeom>
          <a:solidFill>
            <a:srgbClr val="F4F5F8"/>
          </a:solidFill>
          <a:ln w="15875">
            <a:solidFill>
              <a:srgbClr val="E6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374904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9AA0BD"/>
                </a:solidFill>
                <a:latin typeface="Noto Sans KR"/>
                <a:ea typeface="Noto Sans KR"/>
                <a:cs typeface="Noto Sans KR"/>
              </a:rPr>
              <a:t>네이티브 앱 2차, iOS - 추후 검토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4233672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C2350"/>
                </a:solidFill>
                <a:latin typeface="Noto Sans KR"/>
                <a:ea typeface="Noto Sans KR"/>
                <a:cs typeface="Noto Sans KR"/>
              </a:rPr>
              <a:t>Apple Developer 계정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4489704"/>
            <a:ext cx="4480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A4170"/>
                </a:solidFill>
                <a:latin typeface="Noto Sans KR"/>
                <a:ea typeface="Noto Sans KR"/>
                <a:cs typeface="Noto Sans KR"/>
              </a:rPr>
              <a:t>연 $99, 약 13만원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4809744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C2350"/>
                </a:solidFill>
                <a:latin typeface="Noto Sans KR"/>
                <a:ea typeface="Noto Sans KR"/>
                <a:cs typeface="Noto Sans KR"/>
              </a:rPr>
              <a:t>심사 기간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5065776"/>
            <a:ext cx="4480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A4170"/>
                </a:solidFill>
                <a:latin typeface="Noto Sans KR"/>
                <a:ea typeface="Noto Sans KR"/>
                <a:cs typeface="Noto Sans KR"/>
              </a:rPr>
              <a:t>1주 이상, 반려 시 재심사 지연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5385816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C2350"/>
                </a:solidFill>
                <a:latin typeface="Noto Sans KR"/>
                <a:ea typeface="Noto Sans KR"/>
                <a:cs typeface="Noto Sans KR"/>
              </a:rPr>
              <a:t>권장 시점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5641848"/>
            <a:ext cx="4480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A4170"/>
                </a:solidFill>
                <a:latin typeface="Noto Sans KR"/>
                <a:ea typeface="Noto Sans KR"/>
                <a:cs typeface="Noto Sans KR"/>
              </a:rPr>
              <a:t>안드로이드 출시와 안정화 이후 순차 진행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E9BC8"/>
                </a:solidFill>
                <a:latin typeface="Noto Sans KR"/>
                <a:ea typeface="Noto Sans KR"/>
                <a:cs typeface="Noto Sans KR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C2350"/>
                </a:solidFill>
                <a:latin typeface="Noto Sans KR"/>
                <a:ea typeface="Noto Sans KR"/>
                <a:cs typeface="Noto Sans KR"/>
              </a:rPr>
              <a:t>출시 전 검증 계획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457200" cy="50800"/>
          </a:xfrm>
          <a:prstGeom prst="rect">
            <a:avLst/>
          </a:prstGeom>
          <a:solidFill>
            <a:srgbClr val="5AD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5379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AA0BD"/>
                </a:solidFill>
                <a:latin typeface="Noto Sans KR"/>
                <a:ea typeface="Noto Sans KR"/>
                <a:cs typeface="Noto Sans KR"/>
              </a:rPr>
              <a:t>Mobv 리뉴얼 기획 발표, 팀 적토마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AA0BD"/>
                </a:solidFill>
                <a:latin typeface="Noto Sans KR"/>
                <a:ea typeface="Noto Sans KR"/>
                <a:cs typeface="Noto Sans KR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10881360" cy="868680"/>
          </a:xfrm>
          <a:prstGeom prst="roundRect">
            <a:avLst>
              <a:gd name="adj" fmla="val 8000"/>
            </a:avLst>
          </a:prstGeom>
          <a:solidFill>
            <a:srgbClr val="586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103327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친구 5~10명 대상, 실제 약속 잡기에 사용해보는 소규모 베타 테스트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834640"/>
            <a:ext cx="10881360" cy="777240"/>
          </a:xfrm>
          <a:prstGeom prst="roundRect">
            <a:avLst>
              <a:gd name="adj" fmla="val 10000"/>
            </a:avLst>
          </a:prstGeom>
          <a:solidFill>
            <a:srgbClr val="F4F5F8"/>
          </a:solidFill>
          <a:ln w="12700">
            <a:solidFill>
              <a:srgbClr val="E6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3035808"/>
            <a:ext cx="384048" cy="384048"/>
          </a:xfrm>
          <a:prstGeom prst="ellipse">
            <a:avLst/>
          </a:prstGeom>
          <a:solidFill>
            <a:srgbClr val="2E9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03580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834640"/>
            <a:ext cx="97840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1C2350"/>
                </a:solidFill>
                <a:latin typeface="Noto Sans KR"/>
                <a:ea typeface="Noto Sans KR"/>
                <a:cs typeface="Noto Sans KR"/>
              </a:rPr>
              <a:t>날짜 조율 기능을 실제로 사용하는가, 그냥 카톡으로 정하는가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749040"/>
            <a:ext cx="10881360" cy="777240"/>
          </a:xfrm>
          <a:prstGeom prst="roundRect">
            <a:avLst>
              <a:gd name="adj" fmla="val 10000"/>
            </a:avLst>
          </a:prstGeom>
          <a:solidFill>
            <a:srgbClr val="F4F5F8"/>
          </a:solidFill>
          <a:ln w="12700">
            <a:solidFill>
              <a:srgbClr val="E6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14400" y="3950208"/>
            <a:ext cx="384048" cy="384048"/>
          </a:xfrm>
          <a:prstGeom prst="ellipse">
            <a:avLst/>
          </a:prstGeom>
          <a:solidFill>
            <a:srgbClr val="2E9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95020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749040"/>
            <a:ext cx="97840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1C2350"/>
                </a:solidFill>
                <a:latin typeface="Noto Sans KR"/>
                <a:ea typeface="Noto Sans KR"/>
                <a:cs typeface="Noto Sans KR"/>
              </a:rPr>
              <a:t>원 그리기 기능을 실제로 사용하는가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663440"/>
            <a:ext cx="10881360" cy="777240"/>
          </a:xfrm>
          <a:prstGeom prst="roundRect">
            <a:avLst>
              <a:gd name="adj" fmla="val 10000"/>
            </a:avLst>
          </a:prstGeom>
          <a:solidFill>
            <a:srgbClr val="F4F5F8"/>
          </a:solidFill>
          <a:ln w="12700">
            <a:solidFill>
              <a:srgbClr val="E6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4400" y="4864608"/>
            <a:ext cx="384048" cy="384048"/>
          </a:xfrm>
          <a:prstGeom prst="ellipse">
            <a:avLst/>
          </a:prstGeom>
          <a:solidFill>
            <a:srgbClr val="2E9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86460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663440"/>
            <a:ext cx="97840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1C2350"/>
                </a:solidFill>
                <a:latin typeface="Noto Sans KR"/>
                <a:ea typeface="Noto Sans KR"/>
                <a:cs typeface="Noto Sans KR"/>
              </a:rPr>
              <a:t>교집합이 자주 안 생겨서 불편한가, 혹은 잘 작동하는가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577840"/>
            <a:ext cx="10881360" cy="777240"/>
          </a:xfrm>
          <a:prstGeom prst="roundRect">
            <a:avLst>
              <a:gd name="adj" fmla="val 10000"/>
            </a:avLst>
          </a:prstGeom>
          <a:solidFill>
            <a:srgbClr val="F4F5F8"/>
          </a:solidFill>
          <a:ln w="12700">
            <a:solidFill>
              <a:srgbClr val="E6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14400" y="5779008"/>
            <a:ext cx="384048" cy="384048"/>
          </a:xfrm>
          <a:prstGeom prst="ellipse">
            <a:avLst/>
          </a:prstGeom>
          <a:solidFill>
            <a:srgbClr val="2E9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77900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5577840"/>
            <a:ext cx="97840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1C2350"/>
                </a:solidFill>
                <a:latin typeface="Noto Sans KR"/>
                <a:ea typeface="Noto Sans KR"/>
                <a:cs typeface="Noto Sans KR"/>
              </a:rPr>
              <a:t>결과 공유 링크가 카톡 등으로 잘 전파되는가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1280160"/>
            <a:ext cx="10881360" cy="493776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5865F2"/>
              </a:gs>
              <a:gs pos="100000">
                <a:srgbClr val="2E9BC8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obv-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848" y="1920240"/>
            <a:ext cx="914400" cy="6166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71600" y="3017520"/>
            <a:ext cx="9052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E3F8F3"/>
                </a:solidFill>
                <a:latin typeface="Noto Sans KR"/>
                <a:ea typeface="Noto Sans KR"/>
                <a:cs typeface="Noto Sans KR"/>
              </a:rPr>
              <a:t>모두가 괜찮은 곳에서 만나요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520440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Where everyone meets.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572000"/>
            <a:ext cx="9052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감사합니다, Q&amp;A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486400"/>
            <a:ext cx="9052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E3F8F3"/>
                </a:solidFill>
                <a:latin typeface="Noto Sans KR"/>
                <a:ea typeface="Noto Sans KR"/>
                <a:cs typeface="Noto Sans KR"/>
              </a:rPr>
              <a:t>팀 적토마, Mobv 리뉴얼 기획안, 2026.06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